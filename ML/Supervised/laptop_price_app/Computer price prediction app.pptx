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4"/>
  </p:sldMasterIdLst>
  <p:sldIdLst>
    <p:sldId id="256" r:id="rId5"/>
    <p:sldId id="257" r:id="rId6"/>
    <p:sldId id="258" r:id="rId7"/>
    <p:sldId id="259" r:id="rId8"/>
    <p:sldId id="267" r:id="rId9"/>
    <p:sldId id="263" r:id="rId10"/>
    <p:sldId id="261" r:id="rId11"/>
    <p:sldId id="268" r:id="rId12"/>
    <p:sldId id="270" r:id="rId13"/>
    <p:sldId id="274" r:id="rId14"/>
    <p:sldId id="269" r:id="rId15"/>
    <p:sldId id="275" r:id="rId16"/>
    <p:sldId id="276" r:id="rId17"/>
    <p:sldId id="277" r:id="rId18"/>
    <p:sldId id="271" r:id="rId19"/>
    <p:sldId id="272" r:id="rId20"/>
    <p:sldId id="27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p:cViewPr>
        <p:scale>
          <a:sx n="66" d="100"/>
          <a:sy n="66" d="100"/>
        </p:scale>
        <p:origin x="1330" y="451"/>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D7E3ECEC-7E7B-4FB9-BAE8-5C10F12795EA}" type="datetimeFigureOut">
              <a:rPr lang="en-US" smtClean="0"/>
              <a:t>8/2/2026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5948179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8/2/2026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620353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endParaRPr lang="en-US"/>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D7E3ECEC-7E7B-4FB9-BAE8-5C10F12795EA}" type="datetimeFigureOut">
              <a:rPr lang="en-US" smtClean="0"/>
              <a:t>8/2/2026</a:t>
            </a:fld>
            <a:endParaRPr lang="en-US"/>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017427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endParaRPr lang="en-US"/>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D7E3ECEC-7E7B-4FB9-BAE8-5C10F12795EA}" type="datetimeFigureOut">
              <a:rPr lang="en-US" smtClean="0"/>
              <a:t>8/2/2026</a:t>
            </a:fld>
            <a:endParaRPr lang="en-US"/>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9319719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8/2/2026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003811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8/2/2026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498402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8/2/2026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9660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8/2/2026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2860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8/2/2026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8521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endParaRPr lang="en-US"/>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D7E3ECEC-7E7B-4FB9-BAE8-5C10F12795EA}" type="datetimeFigureOut">
              <a:rPr lang="en-US" smtClean="0"/>
              <a:t>8/2/2026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35F31FF-4816-4A7C-BAEE-4B5C41A91EB1}" type="slidenum">
              <a:rPr lang="en-US" smtClean="0"/>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5313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D7E3ECEC-7E7B-4FB9-BAE8-5C10F12795EA}" type="datetimeFigureOut">
              <a:rPr lang="en-US" smtClean="0"/>
              <a:t>8/2/2026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endParaRPr lang="en-US"/>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9740448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D7E3ECEC-7E7B-4FB9-BAE8-5C10F12795EA}" type="datetimeFigureOut">
              <a:rPr lang="en-US" smtClean="0"/>
              <a:t>8/2/2026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9109663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D7E3ECEC-7E7B-4FB9-BAE8-5C10F12795EA}" type="datetimeFigureOut">
              <a:rPr lang="en-US" smtClean="0"/>
              <a:t>8/2/2026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endParaRPr lang="en-US"/>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6482163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D7E3ECEC-7E7B-4FB9-BAE8-5C10F12795EA}" type="datetimeFigureOut">
              <a:rPr lang="en-US" smtClean="0"/>
              <a:t>8/2/2026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3973629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D7E3ECEC-7E7B-4FB9-BAE8-5C10F12795EA}" type="datetimeFigureOut">
              <a:rPr lang="en-US" smtClean="0"/>
              <a:t>8/2/2026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991356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D7E3ECEC-7E7B-4FB9-BAE8-5C10F12795EA}" type="datetimeFigureOut">
              <a:rPr lang="en-US" smtClean="0"/>
              <a:t>8/2/2026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9176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8/2/2026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23377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endParaRPr lang="en-US"/>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D7E3ECEC-7E7B-4FB9-BAE8-5C10F12795EA}" type="datetimeFigureOut">
              <a:rPr lang="en-US" smtClean="0"/>
              <a:t>8/2/2026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35F31FF-4816-4A7C-BAEE-4B5C41A91EB1}"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6884077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8/2/2026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40310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8/2/2026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42401286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8/2/2026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4730419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8/2/2026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41691518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8/2/2026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8287837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8/2/2026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6481151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8/2/2026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1181076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D7E3ECEC-7E7B-4FB9-BAE8-5C10F12795EA}" type="datetimeFigureOut">
              <a:rPr lang="en-US" smtClean="0"/>
              <a:t>8/2/2026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274802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8/2/2026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64048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endParaRPr lang="en-US"/>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D7E3ECEC-7E7B-4FB9-BAE8-5C10F12795EA}" type="datetimeFigureOut">
              <a:rPr lang="en-US" smtClean="0"/>
              <a:t>8/2/2026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235F31FF-4816-4A7C-BAEE-4B5C41A91EB1}" type="slidenum">
              <a:rPr lang="en-US" smtClean="0"/>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2045908"/>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 id="2147483734" r:id="rId17"/>
    <p:sldLayoutId id="2147483735" r:id="rId18"/>
    <p:sldLayoutId id="2147483736" r:id="rId19"/>
    <p:sldLayoutId id="2147483737" r:id="rId20"/>
    <p:sldLayoutId id="2147483738" r:id="rId21"/>
    <p:sldLayoutId id="2147483739" r:id="rId22"/>
    <p:sldLayoutId id="2147483740" r:id="rId23"/>
    <p:sldLayoutId id="2147483741" r:id="rId24"/>
    <p:sldLayoutId id="2147483742" r:id="rId25"/>
    <p:sldLayoutId id="2147483743" r:id="rId26"/>
    <p:sldLayoutId id="2147483744" r:id="rId27"/>
  </p:sldLayoutIdLst>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88BBA-385E-B100-D3B2-83F877ED7B13}"/>
              </a:ext>
            </a:extLst>
          </p:cNvPr>
          <p:cNvSpPr>
            <a:spLocks noGrp="1"/>
          </p:cNvSpPr>
          <p:nvPr>
            <p:ph type="title"/>
          </p:nvPr>
        </p:nvSpPr>
        <p:spPr/>
        <p:txBody>
          <a:bodyPr/>
          <a:lstStyle/>
          <a:p>
            <a:r>
              <a:rPr lang="en-US" dirty="0"/>
              <a:t>Computer price prediction app</a:t>
            </a:r>
          </a:p>
        </p:txBody>
      </p:sp>
      <p:sp>
        <p:nvSpPr>
          <p:cNvPr id="3" name="Subtitle 2">
            <a:extLst>
              <a:ext uri="{FF2B5EF4-FFF2-40B4-BE49-F238E27FC236}">
                <a16:creationId xmlns:a16="http://schemas.microsoft.com/office/drawing/2014/main" id="{D508797C-B534-8121-1EFA-68AC9E565808}"/>
              </a:ext>
            </a:extLst>
          </p:cNvPr>
          <p:cNvSpPr>
            <a:spLocks noGrp="1"/>
          </p:cNvSpPr>
          <p:nvPr>
            <p:ph type="subTitle" idx="1"/>
          </p:nvPr>
        </p:nvSpPr>
        <p:spPr/>
        <p:txBody>
          <a:bodyPr/>
          <a:lstStyle/>
          <a:p>
            <a:r>
              <a:rPr lang="en-US" dirty="0"/>
              <a:t>Group 4 </a:t>
            </a:r>
          </a:p>
        </p:txBody>
      </p:sp>
      <p:pic>
        <p:nvPicPr>
          <p:cNvPr id="6" name="Picture Placeholder 5">
            <a:extLst>
              <a:ext uri="{FF2B5EF4-FFF2-40B4-BE49-F238E27FC236}">
                <a16:creationId xmlns:a16="http://schemas.microsoft.com/office/drawing/2014/main" id="{747B5ADC-439E-8BF3-9088-90C43F8880B1}"/>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5802" r="15802"/>
          <a:stretch>
            <a:fillRect/>
          </a:stretch>
        </p:blipFill>
        <p:spPr/>
      </p:pic>
    </p:spTree>
    <p:extLst>
      <p:ext uri="{BB962C8B-B14F-4D97-AF65-F5344CB8AC3E}">
        <p14:creationId xmlns:p14="http://schemas.microsoft.com/office/powerpoint/2010/main" val="1716342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4F2DC-961C-7725-C3DC-E29A14580909}"/>
              </a:ext>
            </a:extLst>
          </p:cNvPr>
          <p:cNvSpPr>
            <a:spLocks noGrp="1"/>
          </p:cNvSpPr>
          <p:nvPr>
            <p:ph type="title"/>
          </p:nvPr>
        </p:nvSpPr>
        <p:spPr/>
        <p:txBody>
          <a:bodyPr/>
          <a:lstStyle/>
          <a:p>
            <a:r>
              <a:rPr lang="en-US" dirty="0"/>
              <a:t>Business Problem </a:t>
            </a:r>
          </a:p>
        </p:txBody>
      </p:sp>
      <p:sp>
        <p:nvSpPr>
          <p:cNvPr id="3" name="Content Placeholder 2">
            <a:extLst>
              <a:ext uri="{FF2B5EF4-FFF2-40B4-BE49-F238E27FC236}">
                <a16:creationId xmlns:a16="http://schemas.microsoft.com/office/drawing/2014/main" id="{AD43A605-E89B-F5BD-0F90-FA1DA93A97F1}"/>
              </a:ext>
            </a:extLst>
          </p:cNvPr>
          <p:cNvSpPr>
            <a:spLocks noGrp="1"/>
          </p:cNvSpPr>
          <p:nvPr>
            <p:ph idx="1"/>
          </p:nvPr>
        </p:nvSpPr>
        <p:spPr/>
        <p:txBody>
          <a:bodyPr/>
          <a:lstStyle/>
          <a:p>
            <a:r>
              <a:rPr lang="en-US" b="1" dirty="0"/>
              <a:t>Business insight</a:t>
            </a:r>
            <a:r>
              <a:rPr lang="en-US" dirty="0"/>
              <a:t>: Consumer often struggles with determining if a computer is overpriced, fairly-priced, underpriced which is never. </a:t>
            </a:r>
          </a:p>
          <a:p>
            <a:r>
              <a:rPr lang="en-US" b="1" dirty="0"/>
              <a:t>Problem definition</a:t>
            </a:r>
            <a:r>
              <a:rPr lang="en-US" dirty="0"/>
              <a:t>: Given the electronical parameters about a computer can we predict its right price range</a:t>
            </a:r>
          </a:p>
          <a:p>
            <a:r>
              <a:rPr lang="en-US" b="1" dirty="0"/>
              <a:t>Significance</a:t>
            </a:r>
            <a:r>
              <a:rPr lang="en-US" dirty="0"/>
              <a:t>: This tool tries to solve the problem by providing a transparent valuation where a buyer inputs desired spec and the model predicts a fair market price. Ensuring budget optimization and preventing overpriced purchases. </a:t>
            </a:r>
          </a:p>
          <a:p>
            <a:r>
              <a:rPr lang="en-US" b="1" dirty="0"/>
              <a:t>Evaluation</a:t>
            </a:r>
            <a:r>
              <a:rPr lang="en-US" dirty="0"/>
              <a:t>: Our Hope is to minimize size and distribution of prediction errors as possible as it could get using regression models</a:t>
            </a:r>
          </a:p>
        </p:txBody>
      </p:sp>
    </p:spTree>
    <p:extLst>
      <p:ext uri="{BB962C8B-B14F-4D97-AF65-F5344CB8AC3E}">
        <p14:creationId xmlns:p14="http://schemas.microsoft.com/office/powerpoint/2010/main" val="3670362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5E3F6-7A42-14E2-A25B-630B5A2E0D6A}"/>
              </a:ext>
            </a:extLst>
          </p:cNvPr>
          <p:cNvSpPr>
            <a:spLocks noGrp="1"/>
          </p:cNvSpPr>
          <p:nvPr>
            <p:ph type="title"/>
          </p:nvPr>
        </p:nvSpPr>
        <p:spPr/>
        <p:txBody>
          <a:bodyPr/>
          <a:lstStyle/>
          <a:p>
            <a:r>
              <a:rPr lang="en-US" dirty="0"/>
              <a:t>Dataset overview</a:t>
            </a:r>
          </a:p>
        </p:txBody>
      </p:sp>
      <p:sp>
        <p:nvSpPr>
          <p:cNvPr id="3" name="Content Placeholder 2">
            <a:extLst>
              <a:ext uri="{FF2B5EF4-FFF2-40B4-BE49-F238E27FC236}">
                <a16:creationId xmlns:a16="http://schemas.microsoft.com/office/drawing/2014/main" id="{8F8F3D25-518B-2F59-4FF1-42D9AB980A33}"/>
              </a:ext>
            </a:extLst>
          </p:cNvPr>
          <p:cNvSpPr>
            <a:spLocks noGrp="1"/>
          </p:cNvSpPr>
          <p:nvPr>
            <p:ph idx="1"/>
          </p:nvPr>
        </p:nvSpPr>
        <p:spPr/>
        <p:txBody>
          <a:bodyPr/>
          <a:lstStyle/>
          <a:p>
            <a:r>
              <a:rPr lang="en-US" dirty="0"/>
              <a:t>The dataset is coupled with 100,000 records with over 31 features.</a:t>
            </a:r>
          </a:p>
          <a:p>
            <a:r>
              <a:rPr lang="en-US" dirty="0"/>
              <a:t>These features ranges from the device type, brand, form, CPU, GPU information, memory &amp; storage, display, power &amp; connectivity and more. </a:t>
            </a:r>
          </a:p>
        </p:txBody>
      </p:sp>
    </p:spTree>
    <p:extLst>
      <p:ext uri="{BB962C8B-B14F-4D97-AF65-F5344CB8AC3E}">
        <p14:creationId xmlns:p14="http://schemas.microsoft.com/office/powerpoint/2010/main" val="3703624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81314-6980-ECB0-9AA5-60919F817C23}"/>
              </a:ext>
            </a:extLst>
          </p:cNvPr>
          <p:cNvSpPr>
            <a:spLocks noGrp="1"/>
          </p:cNvSpPr>
          <p:nvPr>
            <p:ph type="title"/>
          </p:nvPr>
        </p:nvSpPr>
        <p:spPr/>
        <p:txBody>
          <a:bodyPr/>
          <a:lstStyle/>
          <a:p>
            <a:r>
              <a:rPr lang="en-US" dirty="0"/>
              <a:t>Data cleaning </a:t>
            </a:r>
          </a:p>
        </p:txBody>
      </p:sp>
      <p:sp>
        <p:nvSpPr>
          <p:cNvPr id="3" name="Content Placeholder 2">
            <a:extLst>
              <a:ext uri="{FF2B5EF4-FFF2-40B4-BE49-F238E27FC236}">
                <a16:creationId xmlns:a16="http://schemas.microsoft.com/office/drawing/2014/main" id="{690A04CE-6079-6557-1601-FACF5E6D5823}"/>
              </a:ext>
            </a:extLst>
          </p:cNvPr>
          <p:cNvSpPr>
            <a:spLocks noGrp="1"/>
          </p:cNvSpPr>
          <p:nvPr>
            <p:ph idx="1"/>
          </p:nvPr>
        </p:nvSpPr>
        <p:spPr/>
        <p:txBody>
          <a:bodyPr/>
          <a:lstStyle/>
          <a:p>
            <a:r>
              <a:rPr lang="en-US" dirty="0"/>
              <a:t>Thankfully there was no duplicates or null values. So, there was not that much of data cleaning. But I we dropped some columns that were a threat for our model training later like brand and CPU model. </a:t>
            </a:r>
          </a:p>
          <a:p>
            <a:r>
              <a:rPr lang="en-US" b="1" dirty="0"/>
              <a:t>Feature engineering </a:t>
            </a:r>
          </a:p>
          <a:p>
            <a:r>
              <a:rPr lang="en-US" dirty="0"/>
              <a:t>GPU model was also a feature that was a threat for our model due to its vast categorical value. But we couldn’t also drop it since price is generally affected by it tremendously.  So before dropping it, we tried to extract generation and suffix from it. Which are processed features.</a:t>
            </a:r>
          </a:p>
          <a:p>
            <a:r>
              <a:rPr lang="en-US" dirty="0"/>
              <a:t>We also processed resolution into resolution pixels so the model can use it as a numerical value. </a:t>
            </a:r>
          </a:p>
        </p:txBody>
      </p:sp>
    </p:spTree>
    <p:extLst>
      <p:ext uri="{BB962C8B-B14F-4D97-AF65-F5344CB8AC3E}">
        <p14:creationId xmlns:p14="http://schemas.microsoft.com/office/powerpoint/2010/main" val="1290663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1E06817D-5F6A-9A48-092F-5332ED21A70F}"/>
              </a:ext>
            </a:extLst>
          </p:cNvPr>
          <p:cNvSpPr>
            <a:spLocks noGrp="1"/>
          </p:cNvSpPr>
          <p:nvPr>
            <p:ph type="title"/>
          </p:nvPr>
        </p:nvSpPr>
        <p:spPr>
          <a:xfrm>
            <a:off x="731520" y="365760"/>
            <a:ext cx="10741152" cy="1132258"/>
          </a:xfrm>
        </p:spPr>
        <p:txBody>
          <a:bodyPr/>
          <a:lstStyle/>
          <a:p>
            <a:r>
              <a:rPr lang="en-US" dirty="0"/>
              <a:t>EDA</a:t>
            </a:r>
          </a:p>
        </p:txBody>
      </p:sp>
      <p:pic>
        <p:nvPicPr>
          <p:cNvPr id="6" name="Picture Placeholder 5">
            <a:extLst>
              <a:ext uri="{FF2B5EF4-FFF2-40B4-BE49-F238E27FC236}">
                <a16:creationId xmlns:a16="http://schemas.microsoft.com/office/drawing/2014/main" id="{2D292A09-DE2C-D76A-98D1-EEDA0842BCFB}"/>
              </a:ext>
            </a:extLst>
          </p:cNvPr>
          <p:cNvPicPr>
            <a:picLocks noGrp="1" noChangeAspect="1"/>
          </p:cNvPicPr>
          <p:nvPr>
            <p:ph sz="quarter" idx="15"/>
          </p:nvPr>
        </p:nvPicPr>
        <p:blipFill>
          <a:blip r:embed="rId2">
            <a:extLst>
              <a:ext uri="{28A0092B-C50C-407E-A947-70E740481C1C}">
                <a14:useLocalDpi xmlns:a14="http://schemas.microsoft.com/office/drawing/2010/main" val="0"/>
              </a:ext>
            </a:extLst>
          </a:blip>
          <a:stretch>
            <a:fillRect/>
          </a:stretch>
        </p:blipFill>
        <p:spPr>
          <a:xfrm>
            <a:off x="731838" y="2841213"/>
            <a:ext cx="5181600" cy="2875787"/>
          </a:xfrm>
          <a:prstGeom prst="rect">
            <a:avLst/>
          </a:prstGeom>
          <a:noFill/>
        </p:spPr>
      </p:pic>
      <p:sp>
        <p:nvSpPr>
          <p:cNvPr id="4" name="Content Placeholder 3">
            <a:extLst>
              <a:ext uri="{FF2B5EF4-FFF2-40B4-BE49-F238E27FC236}">
                <a16:creationId xmlns:a16="http://schemas.microsoft.com/office/drawing/2014/main" id="{5076A9C0-D7F7-02E6-0C01-1A635E65F8CC}"/>
              </a:ext>
            </a:extLst>
          </p:cNvPr>
          <p:cNvSpPr>
            <a:spLocks noGrp="1"/>
          </p:cNvSpPr>
          <p:nvPr>
            <p:ph sz="quarter" idx="16"/>
          </p:nvPr>
        </p:nvSpPr>
        <p:spPr>
          <a:xfrm>
            <a:off x="6284947" y="2103121"/>
            <a:ext cx="5181600" cy="4351337"/>
          </a:xfrm>
        </p:spPr>
        <p:txBody>
          <a:bodyPr>
            <a:normAutofit/>
          </a:bodyPr>
          <a:lstStyle/>
          <a:p>
            <a:pPr lvl="0"/>
            <a:r>
              <a:rPr lang="en-US" dirty="0"/>
              <a:t>price is clearly right-skewed, peak around 1600-2000. </a:t>
            </a:r>
          </a:p>
          <a:p>
            <a:pPr lvl="0"/>
            <a:r>
              <a:rPr lang="en-US" dirty="0"/>
              <a:t>Skewness = 0.987 — moderate-to-strong right skew. This is our concrete justification to apply np.log1p(price) before training, particularly for the linear/distance-based models like Linear/Ridge/Lasso/SVR.</a:t>
            </a:r>
          </a:p>
          <a:p>
            <a:pPr lvl="1"/>
            <a:r>
              <a:rPr lang="en-US" sz="1800" i="0" dirty="0"/>
              <a:t>A strong right skew means we have a few extremely expensive items dragging the average up and many machine learning algorithms perform poorly when the target variable has a heavy right tail. it stabilizes variance, Normalizes the Error Distribution, Minimizes the Impact of Outliers.</a:t>
            </a:r>
          </a:p>
          <a:p>
            <a:endParaRPr lang="en-US" dirty="0"/>
          </a:p>
        </p:txBody>
      </p:sp>
    </p:spTree>
    <p:extLst>
      <p:ext uri="{BB962C8B-B14F-4D97-AF65-F5344CB8AC3E}">
        <p14:creationId xmlns:p14="http://schemas.microsoft.com/office/powerpoint/2010/main" val="2245098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C3498B0E-552A-D26F-AF7C-8B763C7FB3B8}"/>
              </a:ext>
            </a:extLst>
          </p:cNvPr>
          <p:cNvSpPr>
            <a:spLocks noGrp="1"/>
          </p:cNvSpPr>
          <p:nvPr>
            <p:ph type="title"/>
          </p:nvPr>
        </p:nvSpPr>
        <p:spPr>
          <a:xfrm>
            <a:off x="2057400" y="4937761"/>
            <a:ext cx="9220200" cy="1353312"/>
          </a:xfrm>
        </p:spPr>
        <p:txBody>
          <a:bodyPr>
            <a:normAutofit/>
          </a:bodyPr>
          <a:lstStyle/>
          <a:p>
            <a:r>
              <a:rPr lang="en-US" dirty="0"/>
              <a:t>most of these features have a direct relationship with price </a:t>
            </a:r>
            <a:br>
              <a:rPr lang="en-US" dirty="0"/>
            </a:br>
            <a:r>
              <a:rPr lang="en-US" dirty="0" err="1"/>
              <a:t>weight_kg</a:t>
            </a:r>
            <a:r>
              <a:rPr lang="en-US" dirty="0"/>
              <a:t> is heavily concentrated at the low end.</a:t>
            </a:r>
          </a:p>
        </p:txBody>
      </p:sp>
      <p:pic>
        <p:nvPicPr>
          <p:cNvPr id="5" name="Content Placeholder 4">
            <a:extLst>
              <a:ext uri="{FF2B5EF4-FFF2-40B4-BE49-F238E27FC236}">
                <a16:creationId xmlns:a16="http://schemas.microsoft.com/office/drawing/2014/main" id="{9E4B9CFC-6F13-7199-D3C8-DD91910B67E4}"/>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753463" y="549021"/>
            <a:ext cx="8063023" cy="4333875"/>
          </a:xfrm>
          <a:prstGeom prst="rect">
            <a:avLst/>
          </a:prstGeom>
          <a:noFill/>
        </p:spPr>
      </p:pic>
    </p:spTree>
    <p:extLst>
      <p:ext uri="{BB962C8B-B14F-4D97-AF65-F5344CB8AC3E}">
        <p14:creationId xmlns:p14="http://schemas.microsoft.com/office/powerpoint/2010/main" val="3655650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C9E11BF6-4502-1656-69A0-2FA5833CB65E}"/>
              </a:ext>
            </a:extLst>
          </p:cNvPr>
          <p:cNvSpPr>
            <a:spLocks noGrp="1"/>
          </p:cNvSpPr>
          <p:nvPr>
            <p:ph type="title"/>
          </p:nvPr>
        </p:nvSpPr>
        <p:spPr>
          <a:xfrm>
            <a:off x="2057400" y="5257800"/>
            <a:ext cx="8915400" cy="1219199"/>
          </a:xfrm>
        </p:spPr>
        <p:txBody>
          <a:bodyPr>
            <a:normAutofit/>
          </a:bodyPr>
          <a:lstStyle/>
          <a:p>
            <a:r>
              <a:rPr lang="en-US" sz="2000" dirty="0" err="1"/>
              <a:t>ram_gb</a:t>
            </a:r>
            <a:r>
              <a:rPr lang="en-US" sz="2000" dirty="0"/>
              <a:t> and </a:t>
            </a:r>
            <a:r>
              <a:rPr lang="en-US" sz="2000" dirty="0" err="1"/>
              <a:t>storage_gb</a:t>
            </a:r>
            <a:r>
              <a:rPr lang="en-US" sz="2000" dirty="0"/>
              <a:t>, </a:t>
            </a:r>
            <a:r>
              <a:rPr lang="en-US" sz="2000" dirty="0" err="1"/>
              <a:t>cpu_core</a:t>
            </a:r>
            <a:r>
              <a:rPr lang="en-US" sz="2000" dirty="0"/>
              <a:t> have no smooth curves. they spike at standard size.</a:t>
            </a:r>
            <a:br>
              <a:rPr lang="en-US" sz="2000" dirty="0"/>
            </a:br>
            <a:r>
              <a:rPr lang="en-US" sz="2000" dirty="0" err="1"/>
              <a:t>battery_wh</a:t>
            </a:r>
            <a:r>
              <a:rPr lang="en-US" sz="2000" dirty="0"/>
              <a:t> spikes at zero which implies our dataset mixes laptops and desktops.</a:t>
            </a:r>
            <a:endParaRPr lang="en-US" dirty="0"/>
          </a:p>
        </p:txBody>
      </p:sp>
      <p:pic>
        <p:nvPicPr>
          <p:cNvPr id="9" name="Content Placeholder 8">
            <a:extLst>
              <a:ext uri="{FF2B5EF4-FFF2-40B4-BE49-F238E27FC236}">
                <a16:creationId xmlns:a16="http://schemas.microsoft.com/office/drawing/2014/main" id="{58E903C3-334B-C936-3FB3-F593FA3B126A}"/>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099552" y="549021"/>
            <a:ext cx="8679779" cy="4708779"/>
          </a:xfrm>
          <a:prstGeom prst="rect">
            <a:avLst/>
          </a:prstGeom>
          <a:noFill/>
        </p:spPr>
      </p:pic>
    </p:spTree>
    <p:extLst>
      <p:ext uri="{BB962C8B-B14F-4D97-AF65-F5344CB8AC3E}">
        <p14:creationId xmlns:p14="http://schemas.microsoft.com/office/powerpoint/2010/main" val="1855427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E60A3-9DE9-9F9F-A919-1E24A960BA55}"/>
              </a:ext>
            </a:extLst>
          </p:cNvPr>
          <p:cNvSpPr>
            <a:spLocks noGrp="1"/>
          </p:cNvSpPr>
          <p:nvPr>
            <p:ph type="title"/>
          </p:nvPr>
        </p:nvSpPr>
        <p:spPr/>
        <p:txBody>
          <a:bodyPr/>
          <a:lstStyle/>
          <a:p>
            <a:r>
              <a:rPr lang="en-US" dirty="0"/>
              <a:t>Regression models </a:t>
            </a:r>
          </a:p>
        </p:txBody>
      </p:sp>
      <p:sp>
        <p:nvSpPr>
          <p:cNvPr id="3" name="Content Placeholder 2">
            <a:extLst>
              <a:ext uri="{FF2B5EF4-FFF2-40B4-BE49-F238E27FC236}">
                <a16:creationId xmlns:a16="http://schemas.microsoft.com/office/drawing/2014/main" id="{42876577-9A25-2872-925C-6CF47E70E840}"/>
              </a:ext>
            </a:extLst>
          </p:cNvPr>
          <p:cNvSpPr>
            <a:spLocks noGrp="1"/>
          </p:cNvSpPr>
          <p:nvPr>
            <p:ph idx="1"/>
          </p:nvPr>
        </p:nvSpPr>
        <p:spPr/>
        <p:txBody>
          <a:bodyPr/>
          <a:lstStyle/>
          <a:p>
            <a:r>
              <a:rPr lang="en-US" dirty="0"/>
              <a:t>Eight regression algorithms were trained and compared on the same train/test split:</a:t>
            </a:r>
          </a:p>
          <a:p>
            <a:pPr marL="342900" lvl="0" indent="-342900">
              <a:buFont typeface="+mj-lt"/>
              <a:buAutoNum type="arabicPeriod"/>
            </a:pPr>
            <a:r>
              <a:rPr lang="en-US" dirty="0"/>
              <a:t>Linear Regression</a:t>
            </a:r>
          </a:p>
          <a:p>
            <a:pPr marL="342900" lvl="0" indent="-342900">
              <a:buFont typeface="+mj-lt"/>
              <a:buAutoNum type="arabicPeriod"/>
            </a:pPr>
            <a:r>
              <a:rPr lang="en-US" dirty="0"/>
              <a:t>Ridge Regression</a:t>
            </a:r>
          </a:p>
          <a:p>
            <a:pPr marL="342900" lvl="0" indent="-342900">
              <a:buFont typeface="+mj-lt"/>
              <a:buAutoNum type="arabicPeriod"/>
            </a:pPr>
            <a:r>
              <a:rPr lang="en-US" dirty="0"/>
              <a:t>Lasso Regression</a:t>
            </a:r>
          </a:p>
          <a:p>
            <a:pPr marL="342900" lvl="0" indent="-342900">
              <a:buFont typeface="+mj-lt"/>
              <a:buAutoNum type="arabicPeriod"/>
            </a:pPr>
            <a:r>
              <a:rPr lang="en-US" dirty="0"/>
              <a:t>Decision Tree Regressor</a:t>
            </a:r>
          </a:p>
          <a:p>
            <a:pPr marL="342900" lvl="0" indent="-342900">
              <a:buFont typeface="+mj-lt"/>
              <a:buAutoNum type="arabicPeriod"/>
            </a:pPr>
            <a:r>
              <a:rPr lang="en-US" dirty="0"/>
              <a:t>Random Forest Regressor</a:t>
            </a:r>
          </a:p>
          <a:p>
            <a:pPr marL="342900" lvl="0" indent="-342900">
              <a:buFont typeface="+mj-lt"/>
              <a:buAutoNum type="arabicPeriod"/>
            </a:pPr>
            <a:r>
              <a:rPr lang="en-US" dirty="0"/>
              <a:t>Gradient Boosting Regressor</a:t>
            </a:r>
          </a:p>
          <a:p>
            <a:pPr marL="342900" lvl="0" indent="-342900">
              <a:buFont typeface="+mj-lt"/>
              <a:buAutoNum type="arabicPeriod"/>
            </a:pPr>
            <a:r>
              <a:rPr lang="en-US" dirty="0"/>
              <a:t>Support Vector Regressor (SVR)</a:t>
            </a:r>
          </a:p>
          <a:p>
            <a:pPr marL="342900" lvl="0" indent="-342900">
              <a:buFont typeface="+mj-lt"/>
              <a:buAutoNum type="arabicPeriod"/>
            </a:pPr>
            <a:r>
              <a:rPr lang="en-US" dirty="0" err="1"/>
              <a:t>XGBoost</a:t>
            </a:r>
            <a:r>
              <a:rPr lang="en-US" dirty="0"/>
              <a:t> Regressor </a:t>
            </a:r>
          </a:p>
        </p:txBody>
      </p:sp>
    </p:spTree>
    <p:extLst>
      <p:ext uri="{BB962C8B-B14F-4D97-AF65-F5344CB8AC3E}">
        <p14:creationId xmlns:p14="http://schemas.microsoft.com/office/powerpoint/2010/main" val="3847145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85306-D575-D761-FB7B-970FE8003378}"/>
              </a:ext>
            </a:extLst>
          </p:cNvPr>
          <p:cNvSpPr>
            <a:spLocks noGrp="1"/>
          </p:cNvSpPr>
          <p:nvPr>
            <p:ph type="title"/>
          </p:nvPr>
        </p:nvSpPr>
        <p:spPr>
          <a:xfrm>
            <a:off x="731520" y="365760"/>
            <a:ext cx="10741152" cy="1132258"/>
          </a:xfrm>
        </p:spPr>
        <p:txBody>
          <a:bodyPr anchor="b">
            <a:normAutofit/>
          </a:bodyPr>
          <a:lstStyle/>
          <a:p>
            <a:r>
              <a:rPr lang="en-US" dirty="0"/>
              <a:t>model evaluation </a:t>
            </a:r>
          </a:p>
        </p:txBody>
      </p:sp>
      <p:sp>
        <p:nvSpPr>
          <p:cNvPr id="3" name="Content Placeholder 2">
            <a:extLst>
              <a:ext uri="{FF2B5EF4-FFF2-40B4-BE49-F238E27FC236}">
                <a16:creationId xmlns:a16="http://schemas.microsoft.com/office/drawing/2014/main" id="{0F4184E3-5AC8-2640-3CBC-1A50C233B211}"/>
              </a:ext>
            </a:extLst>
          </p:cNvPr>
          <p:cNvSpPr>
            <a:spLocks noGrp="1"/>
          </p:cNvSpPr>
          <p:nvPr>
            <p:ph sz="quarter" idx="16"/>
          </p:nvPr>
        </p:nvSpPr>
        <p:spPr>
          <a:xfrm>
            <a:off x="8534399" y="2103121"/>
            <a:ext cx="2932147" cy="4351337"/>
          </a:xfrm>
        </p:spPr>
        <p:txBody>
          <a:bodyPr>
            <a:normAutofit/>
          </a:bodyPr>
          <a:lstStyle/>
          <a:p>
            <a:endParaRPr lang="en-US" dirty="0"/>
          </a:p>
          <a:p>
            <a:endParaRPr lang="en-US" dirty="0"/>
          </a:p>
          <a:p>
            <a:endParaRPr lang="en-US" dirty="0"/>
          </a:p>
          <a:p>
            <a:endParaRPr lang="en-US" dirty="0"/>
          </a:p>
          <a:p>
            <a:r>
              <a:rPr lang="en-US" dirty="0"/>
              <a:t>Each model was evaluated using </a:t>
            </a:r>
            <a:r>
              <a:rPr lang="en-US" b="1" dirty="0"/>
              <a:t>MAE</a:t>
            </a:r>
            <a:r>
              <a:rPr lang="en-US" dirty="0"/>
              <a:t>, </a:t>
            </a:r>
            <a:r>
              <a:rPr lang="en-US" b="1" dirty="0"/>
              <a:t>MSE</a:t>
            </a:r>
            <a:r>
              <a:rPr lang="en-US" dirty="0"/>
              <a:t>, </a:t>
            </a:r>
            <a:r>
              <a:rPr lang="en-US" b="1" dirty="0"/>
              <a:t>RMSE</a:t>
            </a:r>
            <a:r>
              <a:rPr lang="en-US" dirty="0"/>
              <a:t>, and </a:t>
            </a:r>
            <a:r>
              <a:rPr lang="en-US" b="1" dirty="0"/>
              <a:t>R²</a:t>
            </a:r>
            <a:r>
              <a:rPr lang="en-US" dirty="0"/>
              <a:t> on a held-out test set. </a:t>
            </a:r>
          </a:p>
          <a:p>
            <a:endParaRPr lang="en-US" dirty="0"/>
          </a:p>
        </p:txBody>
      </p:sp>
      <p:graphicFrame>
        <p:nvGraphicFramePr>
          <p:cNvPr id="6" name="Table 5">
            <a:extLst>
              <a:ext uri="{FF2B5EF4-FFF2-40B4-BE49-F238E27FC236}">
                <a16:creationId xmlns:a16="http://schemas.microsoft.com/office/drawing/2014/main" id="{6C7BF877-007B-5C6B-B2D1-AEAF065C2B43}"/>
              </a:ext>
            </a:extLst>
          </p:cNvPr>
          <p:cNvGraphicFramePr>
            <a:graphicFrameLocks noGrp="1"/>
          </p:cNvGraphicFramePr>
          <p:nvPr>
            <p:extLst>
              <p:ext uri="{D42A27DB-BD31-4B8C-83A1-F6EECF244321}">
                <p14:modId xmlns:p14="http://schemas.microsoft.com/office/powerpoint/2010/main" val="529441197"/>
              </p:ext>
            </p:extLst>
          </p:nvPr>
        </p:nvGraphicFramePr>
        <p:xfrm>
          <a:off x="731838" y="1981201"/>
          <a:ext cx="7573962" cy="4648197"/>
        </p:xfrm>
        <a:graphic>
          <a:graphicData uri="http://schemas.openxmlformats.org/drawingml/2006/table">
            <a:tbl>
              <a:tblPr firstRow="1" bandRow="1">
                <a:noFill/>
              </a:tblPr>
              <a:tblGrid>
                <a:gridCol w="873541">
                  <a:extLst>
                    <a:ext uri="{9D8B030D-6E8A-4147-A177-3AD203B41FA5}">
                      <a16:colId xmlns:a16="http://schemas.microsoft.com/office/drawing/2014/main" val="3400075649"/>
                    </a:ext>
                  </a:extLst>
                </a:gridCol>
                <a:gridCol w="1276141">
                  <a:extLst>
                    <a:ext uri="{9D8B030D-6E8A-4147-A177-3AD203B41FA5}">
                      <a16:colId xmlns:a16="http://schemas.microsoft.com/office/drawing/2014/main" val="681269273"/>
                    </a:ext>
                  </a:extLst>
                </a:gridCol>
                <a:gridCol w="1316740">
                  <a:extLst>
                    <a:ext uri="{9D8B030D-6E8A-4147-A177-3AD203B41FA5}">
                      <a16:colId xmlns:a16="http://schemas.microsoft.com/office/drawing/2014/main" val="1807877181"/>
                    </a:ext>
                  </a:extLst>
                </a:gridCol>
                <a:gridCol w="1683817">
                  <a:extLst>
                    <a:ext uri="{9D8B030D-6E8A-4147-A177-3AD203B41FA5}">
                      <a16:colId xmlns:a16="http://schemas.microsoft.com/office/drawing/2014/main" val="3513392206"/>
                    </a:ext>
                  </a:extLst>
                </a:gridCol>
                <a:gridCol w="1316740">
                  <a:extLst>
                    <a:ext uri="{9D8B030D-6E8A-4147-A177-3AD203B41FA5}">
                      <a16:colId xmlns:a16="http://schemas.microsoft.com/office/drawing/2014/main" val="4237713825"/>
                    </a:ext>
                  </a:extLst>
                </a:gridCol>
                <a:gridCol w="1106983">
                  <a:extLst>
                    <a:ext uri="{9D8B030D-6E8A-4147-A177-3AD203B41FA5}">
                      <a16:colId xmlns:a16="http://schemas.microsoft.com/office/drawing/2014/main" val="164976495"/>
                    </a:ext>
                  </a:extLst>
                </a:gridCol>
              </a:tblGrid>
              <a:tr h="404833">
                <a:tc>
                  <a:txBody>
                    <a:bodyPr/>
                    <a:lstStyle/>
                    <a:p>
                      <a:pPr>
                        <a:buNone/>
                      </a:pPr>
                      <a:r>
                        <a:rPr lang="en-US" sz="1200" b="0" cap="none" spc="60">
                          <a:solidFill>
                            <a:schemeClr val="bg1"/>
                          </a:solidFill>
                        </a:rPr>
                        <a:t>Rank</a:t>
                      </a:r>
                    </a:p>
                  </a:txBody>
                  <a:tcPr marL="66659" marR="66659" marT="66659" marB="33330" anchor="ctr">
                    <a:lnL w="12700" cmpd="sng">
                      <a:noFill/>
                    </a:lnL>
                    <a:lnR w="12700" cmpd="sng">
                      <a:noFill/>
                    </a:lnR>
                    <a:lnT w="19050" cap="flat" cmpd="sng" algn="ctr">
                      <a:noFill/>
                      <a:prstDash val="solid"/>
                    </a:lnT>
                    <a:lnB w="38100" cmpd="sng">
                      <a:noFill/>
                    </a:lnB>
                    <a:solidFill>
                      <a:schemeClr val="accent1"/>
                    </a:solidFill>
                  </a:tcPr>
                </a:tc>
                <a:tc>
                  <a:txBody>
                    <a:bodyPr/>
                    <a:lstStyle/>
                    <a:p>
                      <a:pPr>
                        <a:buNone/>
                      </a:pPr>
                      <a:r>
                        <a:rPr lang="en-US" sz="1200" b="0" cap="none" spc="60">
                          <a:solidFill>
                            <a:schemeClr val="bg1"/>
                          </a:solidFill>
                        </a:rPr>
                        <a:t>Model</a:t>
                      </a:r>
                    </a:p>
                  </a:txBody>
                  <a:tcPr marL="66659" marR="66659" marT="66659" marB="33330" anchor="ctr">
                    <a:lnL w="12700" cmpd="sng">
                      <a:noFill/>
                    </a:lnL>
                    <a:lnR w="12700" cmpd="sng">
                      <a:noFill/>
                    </a:lnR>
                    <a:lnT w="19050" cap="flat" cmpd="sng" algn="ctr">
                      <a:noFill/>
                      <a:prstDash val="solid"/>
                    </a:lnT>
                    <a:lnB w="38100" cmpd="sng">
                      <a:noFill/>
                    </a:lnB>
                    <a:solidFill>
                      <a:schemeClr val="accent1"/>
                    </a:solidFill>
                  </a:tcPr>
                </a:tc>
                <a:tc>
                  <a:txBody>
                    <a:bodyPr/>
                    <a:lstStyle/>
                    <a:p>
                      <a:pPr>
                        <a:buNone/>
                      </a:pPr>
                      <a:r>
                        <a:rPr lang="en-US" sz="1200" b="0" cap="none" spc="60">
                          <a:solidFill>
                            <a:schemeClr val="bg1"/>
                          </a:solidFill>
                        </a:rPr>
                        <a:t>MAE</a:t>
                      </a:r>
                    </a:p>
                  </a:txBody>
                  <a:tcPr marL="66659" marR="66659" marT="66659" marB="33330" anchor="ctr">
                    <a:lnL w="12700" cmpd="sng">
                      <a:noFill/>
                    </a:lnL>
                    <a:lnR w="12700" cmpd="sng">
                      <a:noFill/>
                    </a:lnR>
                    <a:lnT w="19050" cap="flat" cmpd="sng" algn="ctr">
                      <a:noFill/>
                      <a:prstDash val="solid"/>
                    </a:lnT>
                    <a:lnB w="38100" cmpd="sng">
                      <a:noFill/>
                    </a:lnB>
                    <a:solidFill>
                      <a:schemeClr val="accent1"/>
                    </a:solidFill>
                  </a:tcPr>
                </a:tc>
                <a:tc>
                  <a:txBody>
                    <a:bodyPr/>
                    <a:lstStyle/>
                    <a:p>
                      <a:pPr>
                        <a:buNone/>
                      </a:pPr>
                      <a:r>
                        <a:rPr lang="en-US" sz="1200" b="0" cap="none" spc="60">
                          <a:solidFill>
                            <a:schemeClr val="bg1"/>
                          </a:solidFill>
                        </a:rPr>
                        <a:t>MSE</a:t>
                      </a:r>
                    </a:p>
                  </a:txBody>
                  <a:tcPr marL="66659" marR="66659" marT="66659" marB="33330" anchor="ctr">
                    <a:lnL w="12700" cmpd="sng">
                      <a:noFill/>
                    </a:lnL>
                    <a:lnR w="12700" cmpd="sng">
                      <a:noFill/>
                    </a:lnR>
                    <a:lnT w="19050" cap="flat" cmpd="sng" algn="ctr">
                      <a:noFill/>
                      <a:prstDash val="solid"/>
                    </a:lnT>
                    <a:lnB w="38100" cmpd="sng">
                      <a:noFill/>
                    </a:lnB>
                    <a:solidFill>
                      <a:schemeClr val="accent1"/>
                    </a:solidFill>
                  </a:tcPr>
                </a:tc>
                <a:tc>
                  <a:txBody>
                    <a:bodyPr/>
                    <a:lstStyle/>
                    <a:p>
                      <a:pPr>
                        <a:buNone/>
                      </a:pPr>
                      <a:r>
                        <a:rPr lang="en-US" sz="1200" b="0" cap="none" spc="60">
                          <a:solidFill>
                            <a:schemeClr val="bg1"/>
                          </a:solidFill>
                        </a:rPr>
                        <a:t>RMSE</a:t>
                      </a:r>
                    </a:p>
                  </a:txBody>
                  <a:tcPr marL="66659" marR="66659" marT="66659" marB="33330" anchor="ctr">
                    <a:lnL w="12700" cmpd="sng">
                      <a:noFill/>
                    </a:lnL>
                    <a:lnR w="12700" cmpd="sng">
                      <a:noFill/>
                    </a:lnR>
                    <a:lnT w="19050" cap="flat" cmpd="sng" algn="ctr">
                      <a:noFill/>
                      <a:prstDash val="solid"/>
                    </a:lnT>
                    <a:lnB w="38100" cmpd="sng">
                      <a:noFill/>
                    </a:lnB>
                    <a:solidFill>
                      <a:schemeClr val="accent1"/>
                    </a:solidFill>
                  </a:tcPr>
                </a:tc>
                <a:tc>
                  <a:txBody>
                    <a:bodyPr/>
                    <a:lstStyle/>
                    <a:p>
                      <a:pPr>
                        <a:buNone/>
                      </a:pPr>
                      <a:r>
                        <a:rPr lang="en-US" sz="1200" b="0" cap="none" spc="60">
                          <a:solidFill>
                            <a:schemeClr val="bg1"/>
                          </a:solidFill>
                        </a:rPr>
                        <a:t>R²</a:t>
                      </a:r>
                    </a:p>
                  </a:txBody>
                  <a:tcPr marL="66659" marR="66659" marT="66659" marB="3333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4050676861"/>
                  </a:ext>
                </a:extLst>
              </a:tr>
              <a:tr h="375283">
                <a:tc>
                  <a:txBody>
                    <a:bodyPr/>
                    <a:lstStyle/>
                    <a:p>
                      <a:pPr>
                        <a:buNone/>
                      </a:pPr>
                      <a:r>
                        <a:rPr lang="en-US" sz="1000" cap="none" spc="0">
                          <a:solidFill>
                            <a:schemeClr val="tx1"/>
                          </a:solidFill>
                        </a:rPr>
                        <a:t>1</a:t>
                      </a:r>
                    </a:p>
                  </a:txBody>
                  <a:tcPr marL="66659" marR="66659" marT="66659" marB="33330" anchor="ctr">
                    <a:lnL w="12700" cmpd="sng">
                      <a:noFill/>
                      <a:prstDash val="solid"/>
                    </a:lnL>
                    <a:lnR w="12700" cmpd="sng">
                      <a:noFill/>
                      <a:prstDash val="solid"/>
                    </a:lnR>
                    <a:lnT w="38100" cmpd="sng">
                      <a:noFill/>
                    </a:lnT>
                    <a:lnB w="12700" cap="flat" cmpd="sng" algn="ctr">
                      <a:noFill/>
                      <a:prstDash val="solid"/>
                    </a:lnB>
                    <a:noFill/>
                  </a:tcPr>
                </a:tc>
                <a:tc>
                  <a:txBody>
                    <a:bodyPr/>
                    <a:lstStyle/>
                    <a:p>
                      <a:pPr>
                        <a:buNone/>
                      </a:pPr>
                      <a:r>
                        <a:rPr lang="en-US" sz="1000" cap="none" spc="0">
                          <a:solidFill>
                            <a:schemeClr val="tx1"/>
                          </a:solidFill>
                        </a:rPr>
                        <a:t>XGBoost</a:t>
                      </a:r>
                    </a:p>
                  </a:txBody>
                  <a:tcPr marL="66659" marR="66659" marT="66659" marB="33330" anchor="ctr">
                    <a:lnL w="12700" cmpd="sng">
                      <a:noFill/>
                      <a:prstDash val="solid"/>
                    </a:lnL>
                    <a:lnR w="12700" cmpd="sng">
                      <a:noFill/>
                      <a:prstDash val="solid"/>
                    </a:lnR>
                    <a:lnT w="38100" cmpd="sng">
                      <a:noFill/>
                    </a:lnT>
                    <a:lnB w="12700" cap="flat" cmpd="sng" algn="ctr">
                      <a:noFill/>
                      <a:prstDash val="solid"/>
                    </a:lnB>
                    <a:noFill/>
                  </a:tcPr>
                </a:tc>
                <a:tc>
                  <a:txBody>
                    <a:bodyPr/>
                    <a:lstStyle/>
                    <a:p>
                      <a:pPr>
                        <a:buNone/>
                      </a:pPr>
                      <a:r>
                        <a:rPr lang="en-US" sz="1000" cap="none" spc="0">
                          <a:solidFill>
                            <a:schemeClr val="tx1"/>
                          </a:solidFill>
                        </a:rPr>
                        <a:t>141.131038</a:t>
                      </a:r>
                    </a:p>
                  </a:txBody>
                  <a:tcPr marL="66659" marR="66659" marT="66659" marB="33330" anchor="ctr">
                    <a:lnL w="12700" cmpd="sng">
                      <a:noFill/>
                      <a:prstDash val="solid"/>
                    </a:lnL>
                    <a:lnR w="12700" cmpd="sng">
                      <a:noFill/>
                      <a:prstDash val="solid"/>
                    </a:lnR>
                    <a:lnT w="38100" cmpd="sng">
                      <a:noFill/>
                    </a:lnT>
                    <a:lnB w="12700" cap="flat" cmpd="sng" algn="ctr">
                      <a:noFill/>
                      <a:prstDash val="solid"/>
                    </a:lnB>
                    <a:noFill/>
                  </a:tcPr>
                </a:tc>
                <a:tc>
                  <a:txBody>
                    <a:bodyPr/>
                    <a:lstStyle/>
                    <a:p>
                      <a:pPr>
                        <a:buNone/>
                      </a:pPr>
                      <a:r>
                        <a:rPr lang="en-US" sz="1000" cap="none" spc="0">
                          <a:solidFill>
                            <a:schemeClr val="tx1"/>
                          </a:solidFill>
                        </a:rPr>
                        <a:t>40,980.482014</a:t>
                      </a:r>
                    </a:p>
                  </a:txBody>
                  <a:tcPr marL="66659" marR="66659" marT="66659" marB="33330" anchor="ctr">
                    <a:lnL w="12700" cmpd="sng">
                      <a:noFill/>
                      <a:prstDash val="solid"/>
                    </a:lnL>
                    <a:lnR w="12700" cmpd="sng">
                      <a:noFill/>
                      <a:prstDash val="solid"/>
                    </a:lnR>
                    <a:lnT w="38100" cmpd="sng">
                      <a:noFill/>
                    </a:lnT>
                    <a:lnB w="12700" cap="flat" cmpd="sng" algn="ctr">
                      <a:noFill/>
                      <a:prstDash val="solid"/>
                    </a:lnB>
                    <a:noFill/>
                  </a:tcPr>
                </a:tc>
                <a:tc>
                  <a:txBody>
                    <a:bodyPr/>
                    <a:lstStyle/>
                    <a:p>
                      <a:pPr>
                        <a:buNone/>
                      </a:pPr>
                      <a:r>
                        <a:rPr lang="en-US" sz="1000" cap="none" spc="0">
                          <a:solidFill>
                            <a:schemeClr val="tx1"/>
                          </a:solidFill>
                        </a:rPr>
                        <a:t>202.436365</a:t>
                      </a:r>
                    </a:p>
                  </a:txBody>
                  <a:tcPr marL="66659" marR="66659" marT="66659" marB="33330" anchor="ctr">
                    <a:lnL w="12700" cmpd="sng">
                      <a:noFill/>
                      <a:prstDash val="solid"/>
                    </a:lnL>
                    <a:lnR w="12700" cmpd="sng">
                      <a:noFill/>
                      <a:prstDash val="solid"/>
                    </a:lnR>
                    <a:lnT w="38100" cmpd="sng">
                      <a:noFill/>
                    </a:lnT>
                    <a:lnB w="12700" cap="flat" cmpd="sng" algn="ctr">
                      <a:noFill/>
                      <a:prstDash val="solid"/>
                    </a:lnB>
                    <a:noFill/>
                  </a:tcPr>
                </a:tc>
                <a:tc>
                  <a:txBody>
                    <a:bodyPr/>
                    <a:lstStyle/>
                    <a:p>
                      <a:pPr>
                        <a:buNone/>
                      </a:pPr>
                      <a:r>
                        <a:rPr lang="en-US" sz="1000" cap="none" spc="0">
                          <a:solidFill>
                            <a:schemeClr val="tx1"/>
                          </a:solidFill>
                        </a:rPr>
                        <a:t>0.875897</a:t>
                      </a:r>
                    </a:p>
                  </a:txBody>
                  <a:tcPr marL="66659" marR="66659" marT="66659" marB="33330" anchor="ctr">
                    <a:lnL w="12700" cmpd="sng">
                      <a:noFill/>
                      <a:prstDash val="solid"/>
                    </a:lnL>
                    <a:lnR w="12700" cmpd="sng">
                      <a:noFill/>
                      <a:prstDash val="solid"/>
                    </a:lnR>
                    <a:lnT w="38100" cmpd="sng">
                      <a:noFill/>
                    </a:lnT>
                    <a:lnB w="12700" cap="flat" cmpd="sng" algn="ctr">
                      <a:noFill/>
                      <a:prstDash val="solid"/>
                    </a:lnB>
                    <a:noFill/>
                  </a:tcPr>
                </a:tc>
                <a:extLst>
                  <a:ext uri="{0D108BD9-81ED-4DB2-BD59-A6C34878D82A}">
                    <a16:rowId xmlns:a16="http://schemas.microsoft.com/office/drawing/2014/main" val="159996990"/>
                  </a:ext>
                </a:extLst>
              </a:tr>
              <a:tr h="582133">
                <a:tc>
                  <a:txBody>
                    <a:bodyPr/>
                    <a:lstStyle/>
                    <a:p>
                      <a:pPr>
                        <a:buNone/>
                      </a:pPr>
                      <a:r>
                        <a:rPr lang="en-US" sz="1000" cap="none" spc="0">
                          <a:solidFill>
                            <a:schemeClr val="tx1"/>
                          </a:solidFill>
                        </a:rPr>
                        <a:t>2</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000" cap="none" spc="0">
                          <a:solidFill>
                            <a:schemeClr val="tx1"/>
                          </a:solidFill>
                        </a:rPr>
                        <a:t>Ridge Regression</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000" cap="none" spc="0">
                          <a:solidFill>
                            <a:schemeClr val="tx1"/>
                          </a:solidFill>
                        </a:rPr>
                        <a:t>148.060098</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000" cap="none" spc="0">
                          <a:solidFill>
                            <a:schemeClr val="tx1"/>
                          </a:solidFill>
                        </a:rPr>
                        <a:t>44,166.478736</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000" cap="none" spc="0">
                          <a:solidFill>
                            <a:schemeClr val="tx1"/>
                          </a:solidFill>
                        </a:rPr>
                        <a:t>210.158223</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000" cap="none" spc="0">
                          <a:solidFill>
                            <a:schemeClr val="tx1"/>
                          </a:solidFill>
                        </a:rPr>
                        <a:t>0.866249</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15075675"/>
                  </a:ext>
                </a:extLst>
              </a:tr>
              <a:tr h="582133">
                <a:tc>
                  <a:txBody>
                    <a:bodyPr/>
                    <a:lstStyle/>
                    <a:p>
                      <a:pPr>
                        <a:buNone/>
                      </a:pPr>
                      <a:r>
                        <a:rPr lang="en-US" sz="1000" cap="none" spc="0">
                          <a:solidFill>
                            <a:schemeClr val="tx1"/>
                          </a:solidFill>
                        </a:rPr>
                        <a:t>3</a:t>
                      </a:r>
                    </a:p>
                  </a:txBody>
                  <a:tcPr marL="66659" marR="66659" marT="66659" marB="333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1000" cap="none" spc="0">
                          <a:solidFill>
                            <a:schemeClr val="tx1"/>
                          </a:solidFill>
                        </a:rPr>
                        <a:t>Linear Regression</a:t>
                      </a:r>
                    </a:p>
                  </a:txBody>
                  <a:tcPr marL="66659" marR="66659" marT="66659" marB="333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1000" cap="none" spc="0">
                          <a:solidFill>
                            <a:schemeClr val="tx1"/>
                          </a:solidFill>
                        </a:rPr>
                        <a:t>148.059822</a:t>
                      </a:r>
                    </a:p>
                  </a:txBody>
                  <a:tcPr marL="66659" marR="66659" marT="66659" marB="333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1000" cap="none" spc="0">
                          <a:solidFill>
                            <a:schemeClr val="tx1"/>
                          </a:solidFill>
                        </a:rPr>
                        <a:t>44,166.541289</a:t>
                      </a:r>
                    </a:p>
                  </a:txBody>
                  <a:tcPr marL="66659" marR="66659" marT="66659" marB="333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1000" cap="none" spc="0">
                          <a:solidFill>
                            <a:schemeClr val="tx1"/>
                          </a:solidFill>
                        </a:rPr>
                        <a:t>210.158372</a:t>
                      </a:r>
                    </a:p>
                  </a:txBody>
                  <a:tcPr marL="66659" marR="66659" marT="66659" marB="333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1000" cap="none" spc="0">
                          <a:solidFill>
                            <a:schemeClr val="tx1"/>
                          </a:solidFill>
                        </a:rPr>
                        <a:t>0.866249</a:t>
                      </a:r>
                    </a:p>
                  </a:txBody>
                  <a:tcPr marL="66659" marR="66659" marT="66659" marB="33330"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791952310"/>
                  </a:ext>
                </a:extLst>
              </a:tr>
              <a:tr h="582133">
                <a:tc>
                  <a:txBody>
                    <a:bodyPr/>
                    <a:lstStyle/>
                    <a:p>
                      <a:pPr>
                        <a:buNone/>
                      </a:pPr>
                      <a:r>
                        <a:rPr lang="en-US" sz="1000" cap="none" spc="0">
                          <a:solidFill>
                            <a:schemeClr val="tx1"/>
                          </a:solidFill>
                        </a:rPr>
                        <a:t>4</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000" cap="none" spc="0">
                          <a:solidFill>
                            <a:schemeClr val="tx1"/>
                          </a:solidFill>
                        </a:rPr>
                        <a:t>Gradient Boosting</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000" cap="none" spc="0">
                          <a:solidFill>
                            <a:schemeClr val="tx1"/>
                          </a:solidFill>
                        </a:rPr>
                        <a:t>152.028924</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000" cap="none" spc="0">
                          <a:solidFill>
                            <a:schemeClr val="tx1"/>
                          </a:solidFill>
                        </a:rPr>
                        <a:t>45,438.487508</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000" cap="none" spc="0">
                          <a:solidFill>
                            <a:schemeClr val="tx1"/>
                          </a:solidFill>
                        </a:rPr>
                        <a:t>213.163054</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000" cap="none" spc="0">
                          <a:solidFill>
                            <a:schemeClr val="tx1"/>
                          </a:solidFill>
                        </a:rPr>
                        <a:t>0.862397</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27350662"/>
                  </a:ext>
                </a:extLst>
              </a:tr>
              <a:tr h="375283">
                <a:tc>
                  <a:txBody>
                    <a:bodyPr/>
                    <a:lstStyle/>
                    <a:p>
                      <a:pPr>
                        <a:buNone/>
                      </a:pPr>
                      <a:r>
                        <a:rPr lang="en-US" sz="1000" cap="none" spc="0">
                          <a:solidFill>
                            <a:schemeClr val="tx1"/>
                          </a:solidFill>
                        </a:rPr>
                        <a:t>5</a:t>
                      </a:r>
                    </a:p>
                  </a:txBody>
                  <a:tcPr marL="66659" marR="66659" marT="66659" marB="333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1000" cap="none" spc="0">
                          <a:solidFill>
                            <a:schemeClr val="tx1"/>
                          </a:solidFill>
                        </a:rPr>
                        <a:t>SVR</a:t>
                      </a:r>
                    </a:p>
                  </a:txBody>
                  <a:tcPr marL="66659" marR="66659" marT="66659" marB="333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1000" cap="none" spc="0">
                          <a:solidFill>
                            <a:schemeClr val="tx1"/>
                          </a:solidFill>
                        </a:rPr>
                        <a:t>153.272083</a:t>
                      </a:r>
                    </a:p>
                  </a:txBody>
                  <a:tcPr marL="66659" marR="66659" marT="66659" marB="333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1000" cap="none" spc="0">
                          <a:solidFill>
                            <a:schemeClr val="tx1"/>
                          </a:solidFill>
                        </a:rPr>
                        <a:t>46,814.061350</a:t>
                      </a:r>
                    </a:p>
                  </a:txBody>
                  <a:tcPr marL="66659" marR="66659" marT="66659" marB="333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1000" cap="none" spc="0">
                          <a:solidFill>
                            <a:schemeClr val="tx1"/>
                          </a:solidFill>
                        </a:rPr>
                        <a:t>216.365573</a:t>
                      </a:r>
                    </a:p>
                  </a:txBody>
                  <a:tcPr marL="66659" marR="66659" marT="66659" marB="333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1000" cap="none" spc="0">
                          <a:solidFill>
                            <a:schemeClr val="tx1"/>
                          </a:solidFill>
                        </a:rPr>
                        <a:t>0.858231</a:t>
                      </a:r>
                    </a:p>
                  </a:txBody>
                  <a:tcPr marL="66659" marR="66659" marT="66659" marB="33330"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078149393"/>
                  </a:ext>
                </a:extLst>
              </a:tr>
              <a:tr h="582133">
                <a:tc>
                  <a:txBody>
                    <a:bodyPr/>
                    <a:lstStyle/>
                    <a:p>
                      <a:pPr>
                        <a:buNone/>
                      </a:pPr>
                      <a:r>
                        <a:rPr lang="en-US" sz="1000" cap="none" spc="0">
                          <a:solidFill>
                            <a:schemeClr val="tx1"/>
                          </a:solidFill>
                        </a:rPr>
                        <a:t>6</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000" cap="none" spc="0">
                          <a:solidFill>
                            <a:schemeClr val="tx1"/>
                          </a:solidFill>
                        </a:rPr>
                        <a:t>Random Forest</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000" cap="none" spc="0">
                          <a:solidFill>
                            <a:schemeClr val="tx1"/>
                          </a:solidFill>
                        </a:rPr>
                        <a:t>157.074687</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000" cap="none" spc="0">
                          <a:solidFill>
                            <a:schemeClr val="tx1"/>
                          </a:solidFill>
                        </a:rPr>
                        <a:t>48,768.188587</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000" cap="none" spc="0">
                          <a:solidFill>
                            <a:schemeClr val="tx1"/>
                          </a:solidFill>
                        </a:rPr>
                        <a:t>220.835207</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000" cap="none" spc="0">
                          <a:solidFill>
                            <a:schemeClr val="tx1"/>
                          </a:solidFill>
                        </a:rPr>
                        <a:t>0.852313</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380996298"/>
                  </a:ext>
                </a:extLst>
              </a:tr>
              <a:tr h="582133">
                <a:tc>
                  <a:txBody>
                    <a:bodyPr/>
                    <a:lstStyle/>
                    <a:p>
                      <a:pPr>
                        <a:buNone/>
                      </a:pPr>
                      <a:r>
                        <a:rPr lang="en-US" sz="1000" cap="none" spc="0">
                          <a:solidFill>
                            <a:schemeClr val="tx1"/>
                          </a:solidFill>
                        </a:rPr>
                        <a:t>7</a:t>
                      </a:r>
                    </a:p>
                  </a:txBody>
                  <a:tcPr marL="66659" marR="66659" marT="66659" marB="333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1000" cap="none" spc="0">
                          <a:solidFill>
                            <a:schemeClr val="tx1"/>
                          </a:solidFill>
                        </a:rPr>
                        <a:t>Lasso Regression</a:t>
                      </a:r>
                    </a:p>
                  </a:txBody>
                  <a:tcPr marL="66659" marR="66659" marT="66659" marB="333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1000" cap="none" spc="0">
                          <a:solidFill>
                            <a:schemeClr val="tx1"/>
                          </a:solidFill>
                        </a:rPr>
                        <a:t>205.610737</a:t>
                      </a:r>
                    </a:p>
                  </a:txBody>
                  <a:tcPr marL="66659" marR="66659" marT="66659" marB="333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1000" cap="none" spc="0">
                          <a:solidFill>
                            <a:schemeClr val="tx1"/>
                          </a:solidFill>
                        </a:rPr>
                        <a:t>76,775.310496</a:t>
                      </a:r>
                    </a:p>
                  </a:txBody>
                  <a:tcPr marL="66659" marR="66659" marT="66659" marB="333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1000" cap="none" spc="0">
                          <a:solidFill>
                            <a:schemeClr val="tx1"/>
                          </a:solidFill>
                        </a:rPr>
                        <a:t>277.083580</a:t>
                      </a:r>
                    </a:p>
                  </a:txBody>
                  <a:tcPr marL="66659" marR="66659" marT="66659" marB="333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1000" cap="none" spc="0">
                          <a:solidFill>
                            <a:schemeClr val="tx1"/>
                          </a:solidFill>
                        </a:rPr>
                        <a:t>0.767498</a:t>
                      </a:r>
                    </a:p>
                  </a:txBody>
                  <a:tcPr marL="66659" marR="66659" marT="66659" marB="33330"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26600545"/>
                  </a:ext>
                </a:extLst>
              </a:tr>
              <a:tr h="582133">
                <a:tc>
                  <a:txBody>
                    <a:bodyPr/>
                    <a:lstStyle/>
                    <a:p>
                      <a:pPr>
                        <a:buNone/>
                      </a:pPr>
                      <a:r>
                        <a:rPr lang="en-US" sz="1000" cap="none" spc="0">
                          <a:solidFill>
                            <a:schemeClr val="tx1"/>
                          </a:solidFill>
                        </a:rPr>
                        <a:t>8</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000" cap="none" spc="0">
                          <a:solidFill>
                            <a:schemeClr val="tx1"/>
                          </a:solidFill>
                        </a:rPr>
                        <a:t>Decision Tree</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000" cap="none" spc="0">
                          <a:solidFill>
                            <a:schemeClr val="tx1"/>
                          </a:solidFill>
                        </a:rPr>
                        <a:t>231.030550</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000" cap="none" spc="0">
                          <a:solidFill>
                            <a:schemeClr val="tx1"/>
                          </a:solidFill>
                        </a:rPr>
                        <a:t>113,671.150450</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000" cap="none" spc="0">
                          <a:solidFill>
                            <a:schemeClr val="tx1"/>
                          </a:solidFill>
                        </a:rPr>
                        <a:t>337.151524</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000" cap="none" spc="0" dirty="0">
                          <a:solidFill>
                            <a:schemeClr val="tx1"/>
                          </a:solidFill>
                        </a:rPr>
                        <a:t>0.655765</a:t>
                      </a:r>
                    </a:p>
                  </a:txBody>
                  <a:tcPr marL="66659" marR="66659" marT="66659" marB="333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33794245"/>
                  </a:ext>
                </a:extLst>
              </a:tr>
            </a:tbl>
          </a:graphicData>
        </a:graphic>
      </p:graphicFrame>
    </p:spTree>
    <p:extLst>
      <p:ext uri="{BB962C8B-B14F-4D97-AF65-F5344CB8AC3E}">
        <p14:creationId xmlns:p14="http://schemas.microsoft.com/office/powerpoint/2010/main" val="1863865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A8F5B-2DEA-4B96-1A2A-ABA318F9C279}"/>
              </a:ext>
            </a:extLst>
          </p:cNvPr>
          <p:cNvSpPr>
            <a:spLocks noGrp="1"/>
          </p:cNvSpPr>
          <p:nvPr>
            <p:ph type="title"/>
          </p:nvPr>
        </p:nvSpPr>
        <p:spPr>
          <a:xfrm>
            <a:off x="731520" y="365760"/>
            <a:ext cx="10741152" cy="1132258"/>
          </a:xfrm>
        </p:spPr>
        <p:txBody>
          <a:bodyPr anchor="b">
            <a:normAutofit/>
          </a:bodyPr>
          <a:lstStyle/>
          <a:p>
            <a:r>
              <a:rPr lang="en-US" dirty="0"/>
              <a:t>Model comparison </a:t>
            </a:r>
          </a:p>
        </p:txBody>
      </p:sp>
      <p:sp>
        <p:nvSpPr>
          <p:cNvPr id="3" name="Content Placeholder 2">
            <a:extLst>
              <a:ext uri="{FF2B5EF4-FFF2-40B4-BE49-F238E27FC236}">
                <a16:creationId xmlns:a16="http://schemas.microsoft.com/office/drawing/2014/main" id="{9A6FBEC3-D545-EA17-3867-275FC286509B}"/>
              </a:ext>
            </a:extLst>
          </p:cNvPr>
          <p:cNvSpPr>
            <a:spLocks noGrp="1"/>
          </p:cNvSpPr>
          <p:nvPr>
            <p:ph sz="quarter" idx="15"/>
          </p:nvPr>
        </p:nvSpPr>
        <p:spPr>
          <a:xfrm>
            <a:off x="731838" y="2103438"/>
            <a:ext cx="4068762" cy="4351337"/>
          </a:xfrm>
        </p:spPr>
        <p:txBody>
          <a:bodyPr>
            <a:normAutofit/>
          </a:bodyPr>
          <a:lstStyle/>
          <a:p>
            <a:pPr lvl="0"/>
            <a:r>
              <a:rPr lang="en-US" dirty="0"/>
              <a:t>Based on the baseline performance the </a:t>
            </a:r>
            <a:r>
              <a:rPr lang="en-US" dirty="0" err="1"/>
              <a:t>XGBoost</a:t>
            </a:r>
            <a:r>
              <a:rPr lang="en-US" dirty="0"/>
              <a:t> Won </a:t>
            </a:r>
          </a:p>
          <a:p>
            <a:pPr lvl="1"/>
            <a:r>
              <a:rPr lang="en-US" i="0" dirty="0"/>
              <a:t>R2 = 0.876 means </a:t>
            </a:r>
            <a:r>
              <a:rPr lang="en-US" i="0" dirty="0" err="1"/>
              <a:t>XGBoost</a:t>
            </a:r>
            <a:r>
              <a:rPr lang="en-US" i="0" dirty="0"/>
              <a:t> explains about 87.6% of the variance in laptop prices using just the specs</a:t>
            </a:r>
          </a:p>
          <a:p>
            <a:pPr lvl="1"/>
            <a:r>
              <a:rPr lang="en-US" i="0" dirty="0"/>
              <a:t>MAE = 141 — on laptops averaging somewhere around 1,500-2,000 being off by ~141 on average is roughly a 7-9% error</a:t>
            </a:r>
          </a:p>
          <a:p>
            <a:endParaRPr lang="en-US" dirty="0"/>
          </a:p>
        </p:txBody>
      </p:sp>
      <p:pic>
        <p:nvPicPr>
          <p:cNvPr id="5" name="Picture 4">
            <a:extLst>
              <a:ext uri="{FF2B5EF4-FFF2-40B4-BE49-F238E27FC236}">
                <a16:creationId xmlns:a16="http://schemas.microsoft.com/office/drawing/2014/main" id="{ED0FA8DC-BC03-BD13-E249-142824BB89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9200" y="2286000"/>
            <a:ext cx="6781800" cy="3826923"/>
          </a:xfrm>
          <a:prstGeom prst="rect">
            <a:avLst/>
          </a:prstGeom>
          <a:noFill/>
        </p:spPr>
      </p:pic>
    </p:spTree>
    <p:extLst>
      <p:ext uri="{BB962C8B-B14F-4D97-AF65-F5344CB8AC3E}">
        <p14:creationId xmlns:p14="http://schemas.microsoft.com/office/powerpoint/2010/main" val="1859655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4B3D1-A8BC-7644-6CFB-A596B0FF0E31}"/>
              </a:ext>
            </a:extLst>
          </p:cNvPr>
          <p:cNvSpPr>
            <a:spLocks noGrp="1"/>
          </p:cNvSpPr>
          <p:nvPr>
            <p:ph type="title"/>
          </p:nvPr>
        </p:nvSpPr>
        <p:spPr/>
        <p:txBody>
          <a:bodyPr/>
          <a:lstStyle/>
          <a:p>
            <a:r>
              <a:rPr lang="en-US" dirty="0"/>
              <a:t>Hyperparameter tuning </a:t>
            </a:r>
          </a:p>
        </p:txBody>
      </p:sp>
      <p:sp>
        <p:nvSpPr>
          <p:cNvPr id="3" name="Content Placeholder 2">
            <a:extLst>
              <a:ext uri="{FF2B5EF4-FFF2-40B4-BE49-F238E27FC236}">
                <a16:creationId xmlns:a16="http://schemas.microsoft.com/office/drawing/2014/main" id="{3B81F0EF-5CFF-0F88-E2FE-D72CE237328F}"/>
              </a:ext>
            </a:extLst>
          </p:cNvPr>
          <p:cNvSpPr>
            <a:spLocks noGrp="1"/>
          </p:cNvSpPr>
          <p:nvPr>
            <p:ph idx="1"/>
          </p:nvPr>
        </p:nvSpPr>
        <p:spPr/>
        <p:txBody>
          <a:bodyPr/>
          <a:lstStyle/>
          <a:p>
            <a:r>
              <a:rPr lang="en-US" dirty="0"/>
              <a:t>The top-performing models were then fine-tuned using </a:t>
            </a:r>
            <a:r>
              <a:rPr lang="en-US" b="1" dirty="0" err="1"/>
              <a:t>RandomizedSearchCV</a:t>
            </a:r>
            <a:r>
              <a:rPr lang="en-US" dirty="0"/>
              <a:t> (for the more expensive models) and </a:t>
            </a:r>
            <a:r>
              <a:rPr lang="en-US" b="1" dirty="0" err="1"/>
              <a:t>GridSearchCV</a:t>
            </a:r>
            <a:r>
              <a:rPr lang="en-US" dirty="0"/>
              <a:t> (for Ridge, which only has one key hyperparameter) to search for better hyperparameter settings</a:t>
            </a:r>
          </a:p>
          <a:p>
            <a:endParaRPr lang="en-US" dirty="0"/>
          </a:p>
        </p:txBody>
      </p:sp>
      <p:graphicFrame>
        <p:nvGraphicFramePr>
          <p:cNvPr id="6" name="Table 5">
            <a:extLst>
              <a:ext uri="{FF2B5EF4-FFF2-40B4-BE49-F238E27FC236}">
                <a16:creationId xmlns:a16="http://schemas.microsoft.com/office/drawing/2014/main" id="{9AF2D320-BDC9-ED82-5F78-31CB4FE57C50}"/>
              </a:ext>
            </a:extLst>
          </p:cNvPr>
          <p:cNvGraphicFramePr>
            <a:graphicFrameLocks noGrp="1"/>
          </p:cNvGraphicFramePr>
          <p:nvPr>
            <p:extLst>
              <p:ext uri="{D42A27DB-BD31-4B8C-83A1-F6EECF244321}">
                <p14:modId xmlns:p14="http://schemas.microsoft.com/office/powerpoint/2010/main" val="2401669451"/>
              </p:ext>
            </p:extLst>
          </p:nvPr>
        </p:nvGraphicFramePr>
        <p:xfrm>
          <a:off x="838200" y="3936683"/>
          <a:ext cx="10515600" cy="365760"/>
        </p:xfrm>
        <a:graphic>
          <a:graphicData uri="http://schemas.openxmlformats.org/drawingml/2006/table">
            <a:tbl>
              <a:tblPr/>
              <a:tblGrid>
                <a:gridCol w="10515600">
                  <a:extLst>
                    <a:ext uri="{9D8B030D-6E8A-4147-A177-3AD203B41FA5}">
                      <a16:colId xmlns:a16="http://schemas.microsoft.com/office/drawing/2014/main" val="1895619638"/>
                    </a:ext>
                  </a:extLst>
                </a:gridCol>
              </a:tblGrid>
              <a:tr h="0">
                <a:tc>
                  <a:txBody>
                    <a:bodyPr/>
                    <a:lstStyle/>
                    <a:p>
                      <a:pPr rtl="0">
                        <a:buNone/>
                      </a:pPr>
                      <a:endParaRPr lang="en-US" dirty="0"/>
                    </a:p>
                  </a:txBody>
                  <a:tcPr anchor="ctr">
                    <a:lnL>
                      <a:noFill/>
                    </a:lnL>
                    <a:lnR>
                      <a:noFill/>
                    </a:lnR>
                    <a:lnT>
                      <a:noFill/>
                    </a:lnT>
                    <a:lnB>
                      <a:noFill/>
                    </a:lnB>
                    <a:noFill/>
                  </a:tcPr>
                </a:tc>
                <a:extLst>
                  <a:ext uri="{0D108BD9-81ED-4DB2-BD59-A6C34878D82A}">
                    <a16:rowId xmlns:a16="http://schemas.microsoft.com/office/drawing/2014/main" val="847335801"/>
                  </a:ext>
                </a:extLst>
              </a:tr>
            </a:tbl>
          </a:graphicData>
        </a:graphic>
      </p:graphicFrame>
      <p:graphicFrame>
        <p:nvGraphicFramePr>
          <p:cNvPr id="9" name="Table 8">
            <a:extLst>
              <a:ext uri="{FF2B5EF4-FFF2-40B4-BE49-F238E27FC236}">
                <a16:creationId xmlns:a16="http://schemas.microsoft.com/office/drawing/2014/main" id="{1DA58382-466A-D22F-5D7A-8EDC4532BF50}"/>
              </a:ext>
            </a:extLst>
          </p:cNvPr>
          <p:cNvGraphicFramePr>
            <a:graphicFrameLocks noGrp="1"/>
          </p:cNvGraphicFramePr>
          <p:nvPr>
            <p:extLst>
              <p:ext uri="{D42A27DB-BD31-4B8C-83A1-F6EECF244321}">
                <p14:modId xmlns:p14="http://schemas.microsoft.com/office/powerpoint/2010/main" val="2138843718"/>
              </p:ext>
            </p:extLst>
          </p:nvPr>
        </p:nvGraphicFramePr>
        <p:xfrm>
          <a:off x="838200" y="3205163"/>
          <a:ext cx="10515600" cy="1828800"/>
        </p:xfrm>
        <a:graphic>
          <a:graphicData uri="http://schemas.openxmlformats.org/drawingml/2006/table">
            <a:tbl>
              <a:tblPr/>
              <a:tblGrid>
                <a:gridCol w="2628900">
                  <a:extLst>
                    <a:ext uri="{9D8B030D-6E8A-4147-A177-3AD203B41FA5}">
                      <a16:colId xmlns:a16="http://schemas.microsoft.com/office/drawing/2014/main" val="2496870604"/>
                    </a:ext>
                  </a:extLst>
                </a:gridCol>
                <a:gridCol w="2628900">
                  <a:extLst>
                    <a:ext uri="{9D8B030D-6E8A-4147-A177-3AD203B41FA5}">
                      <a16:colId xmlns:a16="http://schemas.microsoft.com/office/drawing/2014/main" val="267367440"/>
                    </a:ext>
                  </a:extLst>
                </a:gridCol>
                <a:gridCol w="2628900">
                  <a:extLst>
                    <a:ext uri="{9D8B030D-6E8A-4147-A177-3AD203B41FA5}">
                      <a16:colId xmlns:a16="http://schemas.microsoft.com/office/drawing/2014/main" val="1835825806"/>
                    </a:ext>
                  </a:extLst>
                </a:gridCol>
                <a:gridCol w="2628900">
                  <a:extLst>
                    <a:ext uri="{9D8B030D-6E8A-4147-A177-3AD203B41FA5}">
                      <a16:colId xmlns:a16="http://schemas.microsoft.com/office/drawing/2014/main" val="2048669882"/>
                    </a:ext>
                  </a:extLst>
                </a:gridCol>
              </a:tblGrid>
              <a:tr h="0">
                <a:tc>
                  <a:txBody>
                    <a:bodyPr/>
                    <a:lstStyle/>
                    <a:p>
                      <a:pPr>
                        <a:buNone/>
                      </a:pPr>
                      <a:endParaRPr lang="en-US" dirty="0"/>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3240153448"/>
                  </a:ext>
                </a:extLst>
              </a:tr>
              <a:tr h="0">
                <a:tc>
                  <a:txBody>
                    <a:bodyPr/>
                    <a:lstStyle/>
                    <a:p>
                      <a:pPr>
                        <a:buNone/>
                      </a:pPr>
                      <a:endParaRPr lang="en-US"/>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3342522055"/>
                  </a:ext>
                </a:extLst>
              </a:tr>
              <a:tr h="0">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492361485"/>
                  </a:ext>
                </a:extLst>
              </a:tr>
              <a:tr h="0">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1915454663"/>
                  </a:ext>
                </a:extLst>
              </a:tr>
              <a:tr h="0">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1887855215"/>
                  </a:ext>
                </a:extLst>
              </a:tr>
            </a:tbl>
          </a:graphicData>
        </a:graphic>
      </p:graphicFrame>
      <p:graphicFrame>
        <p:nvGraphicFramePr>
          <p:cNvPr id="10" name="Table 9">
            <a:extLst>
              <a:ext uri="{FF2B5EF4-FFF2-40B4-BE49-F238E27FC236}">
                <a16:creationId xmlns:a16="http://schemas.microsoft.com/office/drawing/2014/main" id="{FD1300D2-0695-9CA4-C516-3D626005999B}"/>
              </a:ext>
            </a:extLst>
          </p:cNvPr>
          <p:cNvGraphicFramePr>
            <a:graphicFrameLocks noGrp="1"/>
          </p:cNvGraphicFramePr>
          <p:nvPr/>
        </p:nvGraphicFramePr>
        <p:xfrm>
          <a:off x="838200" y="2793683"/>
          <a:ext cx="10515600" cy="2651760"/>
        </p:xfrm>
        <a:graphic>
          <a:graphicData uri="http://schemas.openxmlformats.org/drawingml/2006/table">
            <a:tbl>
              <a:tblPr/>
              <a:tblGrid>
                <a:gridCol w="1752600">
                  <a:extLst>
                    <a:ext uri="{9D8B030D-6E8A-4147-A177-3AD203B41FA5}">
                      <a16:colId xmlns:a16="http://schemas.microsoft.com/office/drawing/2014/main" val="3352347799"/>
                    </a:ext>
                  </a:extLst>
                </a:gridCol>
                <a:gridCol w="1752600">
                  <a:extLst>
                    <a:ext uri="{9D8B030D-6E8A-4147-A177-3AD203B41FA5}">
                      <a16:colId xmlns:a16="http://schemas.microsoft.com/office/drawing/2014/main" val="979957094"/>
                    </a:ext>
                  </a:extLst>
                </a:gridCol>
                <a:gridCol w="1752600">
                  <a:extLst>
                    <a:ext uri="{9D8B030D-6E8A-4147-A177-3AD203B41FA5}">
                      <a16:colId xmlns:a16="http://schemas.microsoft.com/office/drawing/2014/main" val="3759085092"/>
                    </a:ext>
                  </a:extLst>
                </a:gridCol>
                <a:gridCol w="1752600">
                  <a:extLst>
                    <a:ext uri="{9D8B030D-6E8A-4147-A177-3AD203B41FA5}">
                      <a16:colId xmlns:a16="http://schemas.microsoft.com/office/drawing/2014/main" val="667004091"/>
                    </a:ext>
                  </a:extLst>
                </a:gridCol>
                <a:gridCol w="1752600">
                  <a:extLst>
                    <a:ext uri="{9D8B030D-6E8A-4147-A177-3AD203B41FA5}">
                      <a16:colId xmlns:a16="http://schemas.microsoft.com/office/drawing/2014/main" val="2777068251"/>
                    </a:ext>
                  </a:extLst>
                </a:gridCol>
                <a:gridCol w="1752600">
                  <a:extLst>
                    <a:ext uri="{9D8B030D-6E8A-4147-A177-3AD203B41FA5}">
                      <a16:colId xmlns:a16="http://schemas.microsoft.com/office/drawing/2014/main" val="306832894"/>
                    </a:ext>
                  </a:extLst>
                </a:gridCol>
              </a:tblGrid>
              <a:tr h="0">
                <a:tc>
                  <a:txBody>
                    <a:bodyPr/>
                    <a:lstStyle/>
                    <a:p>
                      <a:pPr>
                        <a:buNone/>
                      </a:pPr>
                      <a:r>
                        <a:rPr lang="en-US"/>
                        <a:t>Rank</a:t>
                      </a:r>
                    </a:p>
                  </a:txBody>
                  <a:tcPr anchor="ctr">
                    <a:lnL>
                      <a:noFill/>
                    </a:lnL>
                    <a:lnR>
                      <a:noFill/>
                    </a:lnR>
                    <a:lnT>
                      <a:noFill/>
                    </a:lnT>
                    <a:lnB>
                      <a:noFill/>
                    </a:lnB>
                    <a:noFill/>
                  </a:tcPr>
                </a:tc>
                <a:tc>
                  <a:txBody>
                    <a:bodyPr/>
                    <a:lstStyle/>
                    <a:p>
                      <a:pPr>
                        <a:buNone/>
                      </a:pPr>
                      <a:r>
                        <a:rPr lang="en-US"/>
                        <a:t>Model</a:t>
                      </a:r>
                    </a:p>
                  </a:txBody>
                  <a:tcPr anchor="ctr">
                    <a:lnL>
                      <a:noFill/>
                    </a:lnL>
                    <a:lnR>
                      <a:noFill/>
                    </a:lnR>
                    <a:lnT>
                      <a:noFill/>
                    </a:lnT>
                    <a:lnB>
                      <a:noFill/>
                    </a:lnB>
                    <a:noFill/>
                  </a:tcPr>
                </a:tc>
                <a:tc>
                  <a:txBody>
                    <a:bodyPr/>
                    <a:lstStyle/>
                    <a:p>
                      <a:pPr algn="r">
                        <a:buNone/>
                      </a:pPr>
                      <a:r>
                        <a:rPr lang="en-US"/>
                        <a:t>MAE</a:t>
                      </a:r>
                    </a:p>
                  </a:txBody>
                  <a:tcPr anchor="ctr">
                    <a:lnL>
                      <a:noFill/>
                    </a:lnL>
                    <a:lnR>
                      <a:noFill/>
                    </a:lnR>
                    <a:lnT>
                      <a:noFill/>
                    </a:lnT>
                    <a:lnB>
                      <a:noFill/>
                    </a:lnB>
                    <a:noFill/>
                  </a:tcPr>
                </a:tc>
                <a:tc>
                  <a:txBody>
                    <a:bodyPr/>
                    <a:lstStyle/>
                    <a:p>
                      <a:pPr algn="r">
                        <a:buNone/>
                      </a:pPr>
                      <a:r>
                        <a:rPr lang="en-US" dirty="0"/>
                        <a:t>MSE</a:t>
                      </a:r>
                    </a:p>
                  </a:txBody>
                  <a:tcPr anchor="ctr">
                    <a:lnL>
                      <a:noFill/>
                    </a:lnL>
                    <a:lnR>
                      <a:noFill/>
                    </a:lnR>
                    <a:lnT>
                      <a:noFill/>
                    </a:lnT>
                    <a:lnB>
                      <a:noFill/>
                    </a:lnB>
                    <a:noFill/>
                  </a:tcPr>
                </a:tc>
                <a:tc>
                  <a:txBody>
                    <a:bodyPr/>
                    <a:lstStyle/>
                    <a:p>
                      <a:pPr algn="r">
                        <a:buNone/>
                      </a:pPr>
                      <a:r>
                        <a:rPr lang="en-US"/>
                        <a:t>RMSE</a:t>
                      </a:r>
                    </a:p>
                  </a:txBody>
                  <a:tcPr anchor="ctr">
                    <a:lnL>
                      <a:noFill/>
                    </a:lnL>
                    <a:lnR>
                      <a:noFill/>
                    </a:lnR>
                    <a:lnT>
                      <a:noFill/>
                    </a:lnT>
                    <a:lnB>
                      <a:noFill/>
                    </a:lnB>
                    <a:noFill/>
                  </a:tcPr>
                </a:tc>
                <a:tc>
                  <a:txBody>
                    <a:bodyPr/>
                    <a:lstStyle/>
                    <a:p>
                      <a:pPr algn="r">
                        <a:buNone/>
                      </a:pPr>
                      <a:r>
                        <a:rPr lang="en-US"/>
                        <a:t>R²</a:t>
                      </a:r>
                    </a:p>
                  </a:txBody>
                  <a:tcPr anchor="ctr">
                    <a:lnL>
                      <a:noFill/>
                    </a:lnL>
                    <a:lnR>
                      <a:noFill/>
                    </a:lnR>
                    <a:lnT>
                      <a:noFill/>
                    </a:lnT>
                    <a:lnB>
                      <a:noFill/>
                    </a:lnB>
                    <a:noFill/>
                  </a:tcPr>
                </a:tc>
                <a:extLst>
                  <a:ext uri="{0D108BD9-81ED-4DB2-BD59-A6C34878D82A}">
                    <a16:rowId xmlns:a16="http://schemas.microsoft.com/office/drawing/2014/main" val="4109634127"/>
                  </a:ext>
                </a:extLst>
              </a:tr>
              <a:tr h="0">
                <a:tc>
                  <a:txBody>
                    <a:bodyPr/>
                    <a:lstStyle/>
                    <a:p>
                      <a:pPr>
                        <a:buNone/>
                      </a:pPr>
                      <a:r>
                        <a:rPr lang="en-US"/>
                        <a:t>1</a:t>
                      </a:r>
                    </a:p>
                  </a:txBody>
                  <a:tcPr anchor="ctr">
                    <a:lnL>
                      <a:noFill/>
                    </a:lnL>
                    <a:lnR>
                      <a:noFill/>
                    </a:lnR>
                    <a:lnT>
                      <a:noFill/>
                    </a:lnT>
                    <a:lnB>
                      <a:noFill/>
                    </a:lnB>
                    <a:noFill/>
                  </a:tcPr>
                </a:tc>
                <a:tc>
                  <a:txBody>
                    <a:bodyPr/>
                    <a:lstStyle/>
                    <a:p>
                      <a:pPr>
                        <a:buNone/>
                      </a:pPr>
                      <a:r>
                        <a:rPr lang="en-US"/>
                        <a:t>XGBoost (Tuned)</a:t>
                      </a:r>
                    </a:p>
                  </a:txBody>
                  <a:tcPr anchor="ctr">
                    <a:lnL>
                      <a:noFill/>
                    </a:lnL>
                    <a:lnR>
                      <a:noFill/>
                    </a:lnR>
                    <a:lnT>
                      <a:noFill/>
                    </a:lnT>
                    <a:lnB>
                      <a:noFill/>
                    </a:lnB>
                    <a:noFill/>
                  </a:tcPr>
                </a:tc>
                <a:tc>
                  <a:txBody>
                    <a:bodyPr/>
                    <a:lstStyle/>
                    <a:p>
                      <a:pPr algn="r">
                        <a:buNone/>
                      </a:pPr>
                      <a:r>
                        <a:rPr lang="en-US"/>
                        <a:t>137.583199</a:t>
                      </a:r>
                    </a:p>
                  </a:txBody>
                  <a:tcPr anchor="ctr">
                    <a:lnL>
                      <a:noFill/>
                    </a:lnL>
                    <a:lnR>
                      <a:noFill/>
                    </a:lnR>
                    <a:lnT>
                      <a:noFill/>
                    </a:lnT>
                    <a:lnB>
                      <a:noFill/>
                    </a:lnB>
                    <a:noFill/>
                  </a:tcPr>
                </a:tc>
                <a:tc>
                  <a:txBody>
                    <a:bodyPr/>
                    <a:lstStyle/>
                    <a:p>
                      <a:pPr algn="r">
                        <a:buNone/>
                      </a:pPr>
                      <a:r>
                        <a:rPr lang="en-US"/>
                        <a:t>38,867.529025</a:t>
                      </a:r>
                    </a:p>
                  </a:txBody>
                  <a:tcPr anchor="ctr">
                    <a:lnL>
                      <a:noFill/>
                    </a:lnL>
                    <a:lnR>
                      <a:noFill/>
                    </a:lnR>
                    <a:lnT>
                      <a:noFill/>
                    </a:lnT>
                    <a:lnB>
                      <a:noFill/>
                    </a:lnB>
                    <a:noFill/>
                  </a:tcPr>
                </a:tc>
                <a:tc>
                  <a:txBody>
                    <a:bodyPr/>
                    <a:lstStyle/>
                    <a:p>
                      <a:pPr algn="r">
                        <a:buNone/>
                      </a:pPr>
                      <a:r>
                        <a:rPr lang="en-US"/>
                        <a:t>197.148495</a:t>
                      </a:r>
                    </a:p>
                  </a:txBody>
                  <a:tcPr anchor="ctr">
                    <a:lnL>
                      <a:noFill/>
                    </a:lnL>
                    <a:lnR>
                      <a:noFill/>
                    </a:lnR>
                    <a:lnT>
                      <a:noFill/>
                    </a:lnT>
                    <a:lnB>
                      <a:noFill/>
                    </a:lnB>
                    <a:noFill/>
                  </a:tcPr>
                </a:tc>
                <a:tc>
                  <a:txBody>
                    <a:bodyPr/>
                    <a:lstStyle/>
                    <a:p>
                      <a:pPr algn="r">
                        <a:buNone/>
                      </a:pPr>
                      <a:r>
                        <a:rPr lang="en-US"/>
                        <a:t>0.882296</a:t>
                      </a:r>
                    </a:p>
                  </a:txBody>
                  <a:tcPr anchor="ctr">
                    <a:lnL>
                      <a:noFill/>
                    </a:lnL>
                    <a:lnR>
                      <a:noFill/>
                    </a:lnR>
                    <a:lnT>
                      <a:noFill/>
                    </a:lnT>
                    <a:lnB>
                      <a:noFill/>
                    </a:lnB>
                    <a:noFill/>
                  </a:tcPr>
                </a:tc>
                <a:extLst>
                  <a:ext uri="{0D108BD9-81ED-4DB2-BD59-A6C34878D82A}">
                    <a16:rowId xmlns:a16="http://schemas.microsoft.com/office/drawing/2014/main" val="2238965537"/>
                  </a:ext>
                </a:extLst>
              </a:tr>
              <a:tr h="0">
                <a:tc>
                  <a:txBody>
                    <a:bodyPr/>
                    <a:lstStyle/>
                    <a:p>
                      <a:pPr>
                        <a:buNone/>
                      </a:pPr>
                      <a:r>
                        <a:rPr lang="en-US"/>
                        <a:t>2</a:t>
                      </a:r>
                    </a:p>
                  </a:txBody>
                  <a:tcPr anchor="ctr">
                    <a:lnL>
                      <a:noFill/>
                    </a:lnL>
                    <a:lnR>
                      <a:noFill/>
                    </a:lnR>
                    <a:lnT>
                      <a:noFill/>
                    </a:lnT>
                    <a:lnB>
                      <a:noFill/>
                    </a:lnB>
                    <a:noFill/>
                  </a:tcPr>
                </a:tc>
                <a:tc>
                  <a:txBody>
                    <a:bodyPr/>
                    <a:lstStyle/>
                    <a:p>
                      <a:pPr>
                        <a:buNone/>
                      </a:pPr>
                      <a:r>
                        <a:rPr lang="en-US"/>
                        <a:t>Gradient Boosting (Tuned)</a:t>
                      </a:r>
                    </a:p>
                  </a:txBody>
                  <a:tcPr anchor="ctr">
                    <a:lnL>
                      <a:noFill/>
                    </a:lnL>
                    <a:lnR>
                      <a:noFill/>
                    </a:lnR>
                    <a:lnT>
                      <a:noFill/>
                    </a:lnT>
                    <a:lnB>
                      <a:noFill/>
                    </a:lnB>
                    <a:noFill/>
                  </a:tcPr>
                </a:tc>
                <a:tc>
                  <a:txBody>
                    <a:bodyPr/>
                    <a:lstStyle/>
                    <a:p>
                      <a:pPr algn="r">
                        <a:buNone/>
                      </a:pPr>
                      <a:r>
                        <a:rPr lang="en-US"/>
                        <a:t>137.973205</a:t>
                      </a:r>
                    </a:p>
                  </a:txBody>
                  <a:tcPr anchor="ctr">
                    <a:lnL>
                      <a:noFill/>
                    </a:lnL>
                    <a:lnR>
                      <a:noFill/>
                    </a:lnR>
                    <a:lnT>
                      <a:noFill/>
                    </a:lnT>
                    <a:lnB>
                      <a:noFill/>
                    </a:lnB>
                    <a:noFill/>
                  </a:tcPr>
                </a:tc>
                <a:tc>
                  <a:txBody>
                    <a:bodyPr/>
                    <a:lstStyle/>
                    <a:p>
                      <a:pPr algn="r">
                        <a:buNone/>
                      </a:pPr>
                      <a:r>
                        <a:rPr lang="en-US"/>
                        <a:t>39,208.623430</a:t>
                      </a:r>
                    </a:p>
                  </a:txBody>
                  <a:tcPr anchor="ctr">
                    <a:lnL>
                      <a:noFill/>
                    </a:lnL>
                    <a:lnR>
                      <a:noFill/>
                    </a:lnR>
                    <a:lnT>
                      <a:noFill/>
                    </a:lnT>
                    <a:lnB>
                      <a:noFill/>
                    </a:lnB>
                    <a:noFill/>
                  </a:tcPr>
                </a:tc>
                <a:tc>
                  <a:txBody>
                    <a:bodyPr/>
                    <a:lstStyle/>
                    <a:p>
                      <a:pPr algn="r">
                        <a:buNone/>
                      </a:pPr>
                      <a:r>
                        <a:rPr lang="en-US"/>
                        <a:t>198.011675</a:t>
                      </a:r>
                    </a:p>
                  </a:txBody>
                  <a:tcPr anchor="ctr">
                    <a:lnL>
                      <a:noFill/>
                    </a:lnL>
                    <a:lnR>
                      <a:noFill/>
                    </a:lnR>
                    <a:lnT>
                      <a:noFill/>
                    </a:lnT>
                    <a:lnB>
                      <a:noFill/>
                    </a:lnB>
                    <a:noFill/>
                  </a:tcPr>
                </a:tc>
                <a:tc>
                  <a:txBody>
                    <a:bodyPr/>
                    <a:lstStyle/>
                    <a:p>
                      <a:pPr algn="r">
                        <a:buNone/>
                      </a:pPr>
                      <a:r>
                        <a:rPr lang="en-US"/>
                        <a:t>0.881263</a:t>
                      </a:r>
                    </a:p>
                  </a:txBody>
                  <a:tcPr anchor="ctr">
                    <a:lnL>
                      <a:noFill/>
                    </a:lnL>
                    <a:lnR>
                      <a:noFill/>
                    </a:lnR>
                    <a:lnT>
                      <a:noFill/>
                    </a:lnT>
                    <a:lnB>
                      <a:noFill/>
                    </a:lnB>
                    <a:noFill/>
                  </a:tcPr>
                </a:tc>
                <a:extLst>
                  <a:ext uri="{0D108BD9-81ED-4DB2-BD59-A6C34878D82A}">
                    <a16:rowId xmlns:a16="http://schemas.microsoft.com/office/drawing/2014/main" val="2986443346"/>
                  </a:ext>
                </a:extLst>
              </a:tr>
              <a:tr h="0">
                <a:tc>
                  <a:txBody>
                    <a:bodyPr/>
                    <a:lstStyle/>
                    <a:p>
                      <a:pPr>
                        <a:buNone/>
                      </a:pPr>
                      <a:r>
                        <a:rPr lang="en-US"/>
                        <a:t>3</a:t>
                      </a:r>
                    </a:p>
                  </a:txBody>
                  <a:tcPr anchor="ctr">
                    <a:lnL>
                      <a:noFill/>
                    </a:lnL>
                    <a:lnR>
                      <a:noFill/>
                    </a:lnR>
                    <a:lnT>
                      <a:noFill/>
                    </a:lnT>
                    <a:lnB>
                      <a:noFill/>
                    </a:lnB>
                    <a:noFill/>
                  </a:tcPr>
                </a:tc>
                <a:tc>
                  <a:txBody>
                    <a:bodyPr/>
                    <a:lstStyle/>
                    <a:p>
                      <a:pPr>
                        <a:buNone/>
                      </a:pPr>
                      <a:r>
                        <a:rPr lang="en-US"/>
                        <a:t>SVR (Tuned)</a:t>
                      </a:r>
                    </a:p>
                  </a:txBody>
                  <a:tcPr anchor="ctr">
                    <a:lnL>
                      <a:noFill/>
                    </a:lnL>
                    <a:lnR>
                      <a:noFill/>
                    </a:lnR>
                    <a:lnT>
                      <a:noFill/>
                    </a:lnT>
                    <a:lnB>
                      <a:noFill/>
                    </a:lnB>
                    <a:noFill/>
                  </a:tcPr>
                </a:tc>
                <a:tc>
                  <a:txBody>
                    <a:bodyPr/>
                    <a:lstStyle/>
                    <a:p>
                      <a:pPr algn="r">
                        <a:buNone/>
                      </a:pPr>
                      <a:r>
                        <a:rPr lang="en-US"/>
                        <a:t>144.927404</a:t>
                      </a:r>
                    </a:p>
                  </a:txBody>
                  <a:tcPr anchor="ctr">
                    <a:lnL>
                      <a:noFill/>
                    </a:lnL>
                    <a:lnR>
                      <a:noFill/>
                    </a:lnR>
                    <a:lnT>
                      <a:noFill/>
                    </a:lnT>
                    <a:lnB>
                      <a:noFill/>
                    </a:lnB>
                    <a:noFill/>
                  </a:tcPr>
                </a:tc>
                <a:tc>
                  <a:txBody>
                    <a:bodyPr/>
                    <a:lstStyle/>
                    <a:p>
                      <a:pPr algn="r">
                        <a:buNone/>
                      </a:pPr>
                      <a:r>
                        <a:rPr lang="en-US"/>
                        <a:t>42,402.682522</a:t>
                      </a:r>
                    </a:p>
                  </a:txBody>
                  <a:tcPr anchor="ctr">
                    <a:lnL>
                      <a:noFill/>
                    </a:lnL>
                    <a:lnR>
                      <a:noFill/>
                    </a:lnR>
                    <a:lnT>
                      <a:noFill/>
                    </a:lnT>
                    <a:lnB>
                      <a:noFill/>
                    </a:lnB>
                    <a:noFill/>
                  </a:tcPr>
                </a:tc>
                <a:tc>
                  <a:txBody>
                    <a:bodyPr/>
                    <a:lstStyle/>
                    <a:p>
                      <a:pPr algn="r">
                        <a:buNone/>
                      </a:pPr>
                      <a:r>
                        <a:rPr lang="en-US"/>
                        <a:t>205.919116</a:t>
                      </a:r>
                    </a:p>
                  </a:txBody>
                  <a:tcPr anchor="ctr">
                    <a:lnL>
                      <a:noFill/>
                    </a:lnL>
                    <a:lnR>
                      <a:noFill/>
                    </a:lnR>
                    <a:lnT>
                      <a:noFill/>
                    </a:lnT>
                    <a:lnB>
                      <a:noFill/>
                    </a:lnB>
                    <a:noFill/>
                  </a:tcPr>
                </a:tc>
                <a:tc>
                  <a:txBody>
                    <a:bodyPr/>
                    <a:lstStyle/>
                    <a:p>
                      <a:pPr algn="r">
                        <a:buNone/>
                      </a:pPr>
                      <a:r>
                        <a:rPr lang="en-US"/>
                        <a:t>0.871590</a:t>
                      </a:r>
                    </a:p>
                  </a:txBody>
                  <a:tcPr anchor="ctr">
                    <a:lnL>
                      <a:noFill/>
                    </a:lnL>
                    <a:lnR>
                      <a:noFill/>
                    </a:lnR>
                    <a:lnT>
                      <a:noFill/>
                    </a:lnT>
                    <a:lnB>
                      <a:noFill/>
                    </a:lnB>
                    <a:noFill/>
                  </a:tcPr>
                </a:tc>
                <a:extLst>
                  <a:ext uri="{0D108BD9-81ED-4DB2-BD59-A6C34878D82A}">
                    <a16:rowId xmlns:a16="http://schemas.microsoft.com/office/drawing/2014/main" val="46810376"/>
                  </a:ext>
                </a:extLst>
              </a:tr>
              <a:tr h="0">
                <a:tc>
                  <a:txBody>
                    <a:bodyPr/>
                    <a:lstStyle/>
                    <a:p>
                      <a:pPr>
                        <a:buNone/>
                      </a:pPr>
                      <a:r>
                        <a:rPr lang="en-US"/>
                        <a:t>4</a:t>
                      </a:r>
                    </a:p>
                  </a:txBody>
                  <a:tcPr anchor="ctr">
                    <a:lnL>
                      <a:noFill/>
                    </a:lnL>
                    <a:lnR>
                      <a:noFill/>
                    </a:lnR>
                    <a:lnT>
                      <a:noFill/>
                    </a:lnT>
                    <a:lnB>
                      <a:noFill/>
                    </a:lnB>
                    <a:noFill/>
                  </a:tcPr>
                </a:tc>
                <a:tc>
                  <a:txBody>
                    <a:bodyPr/>
                    <a:lstStyle/>
                    <a:p>
                      <a:pPr>
                        <a:buNone/>
                      </a:pPr>
                      <a:r>
                        <a:rPr lang="en-US"/>
                        <a:t>Ridge (Tuned)</a:t>
                      </a:r>
                    </a:p>
                  </a:txBody>
                  <a:tcPr anchor="ctr">
                    <a:lnL>
                      <a:noFill/>
                    </a:lnL>
                    <a:lnR>
                      <a:noFill/>
                    </a:lnR>
                    <a:lnT>
                      <a:noFill/>
                    </a:lnT>
                    <a:lnB>
                      <a:noFill/>
                    </a:lnB>
                    <a:noFill/>
                  </a:tcPr>
                </a:tc>
                <a:tc>
                  <a:txBody>
                    <a:bodyPr/>
                    <a:lstStyle/>
                    <a:p>
                      <a:pPr algn="r">
                        <a:buNone/>
                      </a:pPr>
                      <a:r>
                        <a:rPr lang="en-US"/>
                        <a:t>148.060098</a:t>
                      </a:r>
                    </a:p>
                  </a:txBody>
                  <a:tcPr anchor="ctr">
                    <a:lnL>
                      <a:noFill/>
                    </a:lnL>
                    <a:lnR>
                      <a:noFill/>
                    </a:lnR>
                    <a:lnT>
                      <a:noFill/>
                    </a:lnT>
                    <a:lnB>
                      <a:noFill/>
                    </a:lnB>
                    <a:noFill/>
                  </a:tcPr>
                </a:tc>
                <a:tc>
                  <a:txBody>
                    <a:bodyPr/>
                    <a:lstStyle/>
                    <a:p>
                      <a:pPr algn="r">
                        <a:buNone/>
                      </a:pPr>
                      <a:r>
                        <a:rPr lang="en-US"/>
                        <a:t>44,166.478736</a:t>
                      </a:r>
                    </a:p>
                  </a:txBody>
                  <a:tcPr anchor="ctr">
                    <a:lnL>
                      <a:noFill/>
                    </a:lnL>
                    <a:lnR>
                      <a:noFill/>
                    </a:lnR>
                    <a:lnT>
                      <a:noFill/>
                    </a:lnT>
                    <a:lnB>
                      <a:noFill/>
                    </a:lnB>
                    <a:noFill/>
                  </a:tcPr>
                </a:tc>
                <a:tc>
                  <a:txBody>
                    <a:bodyPr/>
                    <a:lstStyle/>
                    <a:p>
                      <a:pPr algn="r">
                        <a:buNone/>
                      </a:pPr>
                      <a:r>
                        <a:rPr lang="en-US"/>
                        <a:t>210.158223</a:t>
                      </a:r>
                    </a:p>
                  </a:txBody>
                  <a:tcPr anchor="ctr">
                    <a:lnL>
                      <a:noFill/>
                    </a:lnL>
                    <a:lnR>
                      <a:noFill/>
                    </a:lnR>
                    <a:lnT>
                      <a:noFill/>
                    </a:lnT>
                    <a:lnB>
                      <a:noFill/>
                    </a:lnB>
                    <a:noFill/>
                  </a:tcPr>
                </a:tc>
                <a:tc>
                  <a:txBody>
                    <a:bodyPr/>
                    <a:lstStyle/>
                    <a:p>
                      <a:pPr algn="r">
                        <a:buNone/>
                      </a:pPr>
                      <a:r>
                        <a:rPr lang="en-US" dirty="0"/>
                        <a:t>0.866249</a:t>
                      </a:r>
                    </a:p>
                  </a:txBody>
                  <a:tcPr anchor="ctr">
                    <a:lnL>
                      <a:noFill/>
                    </a:lnL>
                    <a:lnR>
                      <a:noFill/>
                    </a:lnR>
                    <a:lnT>
                      <a:noFill/>
                    </a:lnT>
                    <a:lnB>
                      <a:noFill/>
                    </a:lnB>
                    <a:noFill/>
                  </a:tcPr>
                </a:tc>
                <a:extLst>
                  <a:ext uri="{0D108BD9-81ED-4DB2-BD59-A6C34878D82A}">
                    <a16:rowId xmlns:a16="http://schemas.microsoft.com/office/drawing/2014/main" val="2726716957"/>
                  </a:ext>
                </a:extLst>
              </a:tr>
            </a:tbl>
          </a:graphicData>
        </a:graphic>
      </p:graphicFrame>
    </p:spTree>
    <p:extLst>
      <p:ext uri="{BB962C8B-B14F-4D97-AF65-F5344CB8AC3E}">
        <p14:creationId xmlns:p14="http://schemas.microsoft.com/office/powerpoint/2010/main" val="1616424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8E04D-EE36-6DE0-8EED-F6C8F5763694}"/>
              </a:ext>
            </a:extLst>
          </p:cNvPr>
          <p:cNvSpPr>
            <a:spLocks noGrp="1"/>
          </p:cNvSpPr>
          <p:nvPr>
            <p:ph type="title"/>
          </p:nvPr>
        </p:nvSpPr>
        <p:spPr/>
        <p:txBody>
          <a:bodyPr/>
          <a:lstStyle/>
          <a:p>
            <a:r>
              <a:rPr lang="en-US" dirty="0"/>
              <a:t>Con. </a:t>
            </a:r>
          </a:p>
        </p:txBody>
      </p:sp>
      <p:graphicFrame>
        <p:nvGraphicFramePr>
          <p:cNvPr id="5" name="Content Placeholder 4">
            <a:extLst>
              <a:ext uri="{FF2B5EF4-FFF2-40B4-BE49-F238E27FC236}">
                <a16:creationId xmlns:a16="http://schemas.microsoft.com/office/drawing/2014/main" id="{D4E0591A-4F62-68A7-6698-296FC26109AF}"/>
              </a:ext>
            </a:extLst>
          </p:cNvPr>
          <p:cNvGraphicFramePr>
            <a:graphicFrameLocks noGrp="1"/>
          </p:cNvGraphicFramePr>
          <p:nvPr>
            <p:ph idx="1"/>
            <p:extLst>
              <p:ext uri="{D42A27DB-BD31-4B8C-83A1-F6EECF244321}">
                <p14:modId xmlns:p14="http://schemas.microsoft.com/office/powerpoint/2010/main" val="3034559690"/>
              </p:ext>
            </p:extLst>
          </p:nvPr>
        </p:nvGraphicFramePr>
        <p:xfrm>
          <a:off x="864394" y="3206750"/>
          <a:ext cx="10515600" cy="1828800"/>
        </p:xfrm>
        <a:graphic>
          <a:graphicData uri="http://schemas.openxmlformats.org/drawingml/2006/table">
            <a:tbl>
              <a:tblPr/>
              <a:tblGrid>
                <a:gridCol w="2628900">
                  <a:extLst>
                    <a:ext uri="{9D8B030D-6E8A-4147-A177-3AD203B41FA5}">
                      <a16:colId xmlns:a16="http://schemas.microsoft.com/office/drawing/2014/main" val="3177502676"/>
                    </a:ext>
                  </a:extLst>
                </a:gridCol>
                <a:gridCol w="2628900">
                  <a:extLst>
                    <a:ext uri="{9D8B030D-6E8A-4147-A177-3AD203B41FA5}">
                      <a16:colId xmlns:a16="http://schemas.microsoft.com/office/drawing/2014/main" val="2405650055"/>
                    </a:ext>
                  </a:extLst>
                </a:gridCol>
                <a:gridCol w="2628900">
                  <a:extLst>
                    <a:ext uri="{9D8B030D-6E8A-4147-A177-3AD203B41FA5}">
                      <a16:colId xmlns:a16="http://schemas.microsoft.com/office/drawing/2014/main" val="3652523283"/>
                    </a:ext>
                  </a:extLst>
                </a:gridCol>
                <a:gridCol w="2628900">
                  <a:extLst>
                    <a:ext uri="{9D8B030D-6E8A-4147-A177-3AD203B41FA5}">
                      <a16:colId xmlns:a16="http://schemas.microsoft.com/office/drawing/2014/main" val="454246343"/>
                    </a:ext>
                  </a:extLst>
                </a:gridCol>
              </a:tblGrid>
              <a:tr h="0">
                <a:tc>
                  <a:txBody>
                    <a:bodyPr/>
                    <a:lstStyle/>
                    <a:p>
                      <a:pPr>
                        <a:buNone/>
                      </a:pPr>
                      <a:r>
                        <a:rPr lang="en-US"/>
                        <a:t>Model</a:t>
                      </a:r>
                    </a:p>
                  </a:txBody>
                  <a:tcPr anchor="ctr">
                    <a:lnL>
                      <a:noFill/>
                    </a:lnL>
                    <a:lnR>
                      <a:noFill/>
                    </a:lnR>
                    <a:lnT>
                      <a:noFill/>
                    </a:lnT>
                    <a:lnB>
                      <a:noFill/>
                    </a:lnB>
                    <a:noFill/>
                  </a:tcPr>
                </a:tc>
                <a:tc>
                  <a:txBody>
                    <a:bodyPr/>
                    <a:lstStyle/>
                    <a:p>
                      <a:pPr>
                        <a:buNone/>
                      </a:pPr>
                      <a:r>
                        <a:rPr lang="en-US"/>
                        <a:t>Baseline R²</a:t>
                      </a:r>
                    </a:p>
                  </a:txBody>
                  <a:tcPr anchor="ctr">
                    <a:lnL>
                      <a:noFill/>
                    </a:lnL>
                    <a:lnR>
                      <a:noFill/>
                    </a:lnR>
                    <a:lnT>
                      <a:noFill/>
                    </a:lnT>
                    <a:lnB>
                      <a:noFill/>
                    </a:lnB>
                    <a:noFill/>
                  </a:tcPr>
                </a:tc>
                <a:tc>
                  <a:txBody>
                    <a:bodyPr/>
                    <a:lstStyle/>
                    <a:p>
                      <a:pPr>
                        <a:buNone/>
                      </a:pPr>
                      <a:r>
                        <a:rPr lang="en-US"/>
                        <a:t>Tuned R²</a:t>
                      </a:r>
                    </a:p>
                  </a:txBody>
                  <a:tcPr anchor="ctr">
                    <a:lnL>
                      <a:noFill/>
                    </a:lnL>
                    <a:lnR>
                      <a:noFill/>
                    </a:lnR>
                    <a:lnT>
                      <a:noFill/>
                    </a:lnT>
                    <a:lnB>
                      <a:noFill/>
                    </a:lnB>
                    <a:noFill/>
                  </a:tcPr>
                </a:tc>
                <a:tc>
                  <a:txBody>
                    <a:bodyPr/>
                    <a:lstStyle/>
                    <a:p>
                      <a:pPr>
                        <a:buNone/>
                      </a:pPr>
                      <a:r>
                        <a:rPr lang="en-US"/>
                        <a:t>Improvement</a:t>
                      </a:r>
                    </a:p>
                  </a:txBody>
                  <a:tcPr anchor="ctr">
                    <a:lnL>
                      <a:noFill/>
                    </a:lnL>
                    <a:lnR>
                      <a:noFill/>
                    </a:lnR>
                    <a:lnT>
                      <a:noFill/>
                    </a:lnT>
                    <a:lnB>
                      <a:noFill/>
                    </a:lnB>
                    <a:noFill/>
                  </a:tcPr>
                </a:tc>
                <a:extLst>
                  <a:ext uri="{0D108BD9-81ED-4DB2-BD59-A6C34878D82A}">
                    <a16:rowId xmlns:a16="http://schemas.microsoft.com/office/drawing/2014/main" val="3523964488"/>
                  </a:ext>
                </a:extLst>
              </a:tr>
              <a:tr h="0">
                <a:tc>
                  <a:txBody>
                    <a:bodyPr/>
                    <a:lstStyle/>
                    <a:p>
                      <a:pPr>
                        <a:buNone/>
                      </a:pPr>
                      <a:r>
                        <a:rPr lang="en-US"/>
                        <a:t>XGBoost</a:t>
                      </a:r>
                      <a:endParaRPr lang="en-US" dirty="0"/>
                    </a:p>
                  </a:txBody>
                  <a:tcPr anchor="ctr">
                    <a:lnL>
                      <a:noFill/>
                    </a:lnL>
                    <a:lnR>
                      <a:noFill/>
                    </a:lnR>
                    <a:lnT>
                      <a:noFill/>
                    </a:lnT>
                    <a:lnB>
                      <a:noFill/>
                    </a:lnB>
                    <a:noFill/>
                  </a:tcPr>
                </a:tc>
                <a:tc>
                  <a:txBody>
                    <a:bodyPr/>
                    <a:lstStyle/>
                    <a:p>
                      <a:pPr>
                        <a:buNone/>
                      </a:pPr>
                      <a:r>
                        <a:rPr lang="en-US"/>
                        <a:t>0.8759</a:t>
                      </a:r>
                    </a:p>
                  </a:txBody>
                  <a:tcPr anchor="ctr">
                    <a:lnL>
                      <a:noFill/>
                    </a:lnL>
                    <a:lnR>
                      <a:noFill/>
                    </a:lnR>
                    <a:lnT>
                      <a:noFill/>
                    </a:lnT>
                    <a:lnB>
                      <a:noFill/>
                    </a:lnB>
                    <a:noFill/>
                  </a:tcPr>
                </a:tc>
                <a:tc>
                  <a:txBody>
                    <a:bodyPr/>
                    <a:lstStyle/>
                    <a:p>
                      <a:pPr>
                        <a:buNone/>
                      </a:pPr>
                      <a:r>
                        <a:rPr lang="en-US"/>
                        <a:t>0.8823</a:t>
                      </a:r>
                    </a:p>
                  </a:txBody>
                  <a:tcPr anchor="ctr">
                    <a:lnL>
                      <a:noFill/>
                    </a:lnL>
                    <a:lnR>
                      <a:noFill/>
                    </a:lnR>
                    <a:lnT>
                      <a:noFill/>
                    </a:lnT>
                    <a:lnB>
                      <a:noFill/>
                    </a:lnB>
                    <a:noFill/>
                  </a:tcPr>
                </a:tc>
                <a:tc>
                  <a:txBody>
                    <a:bodyPr/>
                    <a:lstStyle/>
                    <a:p>
                      <a:pPr>
                        <a:buNone/>
                      </a:pPr>
                      <a:r>
                        <a:rPr lang="en-US"/>
                        <a:t>+0.0064</a:t>
                      </a:r>
                    </a:p>
                  </a:txBody>
                  <a:tcPr anchor="ctr">
                    <a:lnL>
                      <a:noFill/>
                    </a:lnL>
                    <a:lnR>
                      <a:noFill/>
                    </a:lnR>
                    <a:lnT>
                      <a:noFill/>
                    </a:lnT>
                    <a:lnB>
                      <a:noFill/>
                    </a:lnB>
                    <a:noFill/>
                  </a:tcPr>
                </a:tc>
                <a:extLst>
                  <a:ext uri="{0D108BD9-81ED-4DB2-BD59-A6C34878D82A}">
                    <a16:rowId xmlns:a16="http://schemas.microsoft.com/office/drawing/2014/main" val="3573097511"/>
                  </a:ext>
                </a:extLst>
              </a:tr>
              <a:tr h="0">
                <a:tc>
                  <a:txBody>
                    <a:bodyPr/>
                    <a:lstStyle/>
                    <a:p>
                      <a:pPr>
                        <a:buNone/>
                      </a:pPr>
                      <a:r>
                        <a:rPr lang="en-US"/>
                        <a:t>Gradient Boosting</a:t>
                      </a:r>
                    </a:p>
                  </a:txBody>
                  <a:tcPr anchor="ctr">
                    <a:lnL>
                      <a:noFill/>
                    </a:lnL>
                    <a:lnR>
                      <a:noFill/>
                    </a:lnR>
                    <a:lnT>
                      <a:noFill/>
                    </a:lnT>
                    <a:lnB>
                      <a:noFill/>
                    </a:lnB>
                    <a:noFill/>
                  </a:tcPr>
                </a:tc>
                <a:tc>
                  <a:txBody>
                    <a:bodyPr/>
                    <a:lstStyle/>
                    <a:p>
                      <a:pPr>
                        <a:buNone/>
                      </a:pPr>
                      <a:r>
                        <a:rPr lang="en-US"/>
                        <a:t>0.8624</a:t>
                      </a:r>
                    </a:p>
                  </a:txBody>
                  <a:tcPr anchor="ctr">
                    <a:lnL>
                      <a:noFill/>
                    </a:lnL>
                    <a:lnR>
                      <a:noFill/>
                    </a:lnR>
                    <a:lnT>
                      <a:noFill/>
                    </a:lnT>
                    <a:lnB>
                      <a:noFill/>
                    </a:lnB>
                    <a:noFill/>
                  </a:tcPr>
                </a:tc>
                <a:tc>
                  <a:txBody>
                    <a:bodyPr/>
                    <a:lstStyle/>
                    <a:p>
                      <a:pPr>
                        <a:buNone/>
                      </a:pPr>
                      <a:r>
                        <a:rPr lang="en-US"/>
                        <a:t>0.8813</a:t>
                      </a:r>
                    </a:p>
                  </a:txBody>
                  <a:tcPr anchor="ctr">
                    <a:lnL>
                      <a:noFill/>
                    </a:lnL>
                    <a:lnR>
                      <a:noFill/>
                    </a:lnR>
                    <a:lnT>
                      <a:noFill/>
                    </a:lnT>
                    <a:lnB>
                      <a:noFill/>
                    </a:lnB>
                    <a:noFill/>
                  </a:tcPr>
                </a:tc>
                <a:tc>
                  <a:txBody>
                    <a:bodyPr/>
                    <a:lstStyle/>
                    <a:p>
                      <a:pPr>
                        <a:buNone/>
                      </a:pPr>
                      <a:r>
                        <a:rPr lang="en-US" b="1"/>
                        <a:t>+0.0189</a:t>
                      </a:r>
                      <a:endParaRPr lang="en-US"/>
                    </a:p>
                  </a:txBody>
                  <a:tcPr anchor="ctr">
                    <a:lnL>
                      <a:noFill/>
                    </a:lnL>
                    <a:lnR>
                      <a:noFill/>
                    </a:lnR>
                    <a:lnT>
                      <a:noFill/>
                    </a:lnT>
                    <a:lnB>
                      <a:noFill/>
                    </a:lnB>
                    <a:noFill/>
                  </a:tcPr>
                </a:tc>
                <a:extLst>
                  <a:ext uri="{0D108BD9-81ED-4DB2-BD59-A6C34878D82A}">
                    <a16:rowId xmlns:a16="http://schemas.microsoft.com/office/drawing/2014/main" val="309972819"/>
                  </a:ext>
                </a:extLst>
              </a:tr>
              <a:tr h="0">
                <a:tc>
                  <a:txBody>
                    <a:bodyPr/>
                    <a:lstStyle/>
                    <a:p>
                      <a:pPr>
                        <a:buNone/>
                      </a:pPr>
                      <a:r>
                        <a:rPr lang="en-US"/>
                        <a:t>SVR</a:t>
                      </a:r>
                      <a:endParaRPr lang="en-US" dirty="0"/>
                    </a:p>
                  </a:txBody>
                  <a:tcPr anchor="ctr">
                    <a:lnL>
                      <a:noFill/>
                    </a:lnL>
                    <a:lnR>
                      <a:noFill/>
                    </a:lnR>
                    <a:lnT>
                      <a:noFill/>
                    </a:lnT>
                    <a:lnB>
                      <a:noFill/>
                    </a:lnB>
                    <a:noFill/>
                  </a:tcPr>
                </a:tc>
                <a:tc>
                  <a:txBody>
                    <a:bodyPr/>
                    <a:lstStyle/>
                    <a:p>
                      <a:pPr>
                        <a:buNone/>
                      </a:pPr>
                      <a:r>
                        <a:rPr lang="en-US"/>
                        <a:t>0.8582</a:t>
                      </a:r>
                    </a:p>
                  </a:txBody>
                  <a:tcPr anchor="ctr">
                    <a:lnL>
                      <a:noFill/>
                    </a:lnL>
                    <a:lnR>
                      <a:noFill/>
                    </a:lnR>
                    <a:lnT>
                      <a:noFill/>
                    </a:lnT>
                    <a:lnB>
                      <a:noFill/>
                    </a:lnB>
                    <a:noFill/>
                  </a:tcPr>
                </a:tc>
                <a:tc>
                  <a:txBody>
                    <a:bodyPr/>
                    <a:lstStyle/>
                    <a:p>
                      <a:pPr>
                        <a:buNone/>
                      </a:pPr>
                      <a:r>
                        <a:rPr lang="en-US" dirty="0"/>
                        <a:t>0.8716</a:t>
                      </a:r>
                    </a:p>
                  </a:txBody>
                  <a:tcPr anchor="ctr">
                    <a:lnL>
                      <a:noFill/>
                    </a:lnL>
                    <a:lnR>
                      <a:noFill/>
                    </a:lnR>
                    <a:lnT>
                      <a:noFill/>
                    </a:lnT>
                    <a:lnB>
                      <a:noFill/>
                    </a:lnB>
                    <a:noFill/>
                  </a:tcPr>
                </a:tc>
                <a:tc>
                  <a:txBody>
                    <a:bodyPr/>
                    <a:lstStyle/>
                    <a:p>
                      <a:pPr>
                        <a:buNone/>
                      </a:pPr>
                      <a:r>
                        <a:rPr lang="en-US"/>
                        <a:t>+0.0134</a:t>
                      </a:r>
                    </a:p>
                  </a:txBody>
                  <a:tcPr anchor="ctr">
                    <a:lnL>
                      <a:noFill/>
                    </a:lnL>
                    <a:lnR>
                      <a:noFill/>
                    </a:lnR>
                    <a:lnT>
                      <a:noFill/>
                    </a:lnT>
                    <a:lnB>
                      <a:noFill/>
                    </a:lnB>
                    <a:noFill/>
                  </a:tcPr>
                </a:tc>
                <a:extLst>
                  <a:ext uri="{0D108BD9-81ED-4DB2-BD59-A6C34878D82A}">
                    <a16:rowId xmlns:a16="http://schemas.microsoft.com/office/drawing/2014/main" val="428095747"/>
                  </a:ext>
                </a:extLst>
              </a:tr>
              <a:tr h="0">
                <a:tc>
                  <a:txBody>
                    <a:bodyPr/>
                    <a:lstStyle/>
                    <a:p>
                      <a:pPr>
                        <a:buNone/>
                      </a:pPr>
                      <a:r>
                        <a:rPr lang="en-US"/>
                        <a:t>Ridge</a:t>
                      </a:r>
                    </a:p>
                  </a:txBody>
                  <a:tcPr anchor="ctr">
                    <a:lnL>
                      <a:noFill/>
                    </a:lnL>
                    <a:lnR>
                      <a:noFill/>
                    </a:lnR>
                    <a:lnT>
                      <a:noFill/>
                    </a:lnT>
                    <a:lnB>
                      <a:noFill/>
                    </a:lnB>
                    <a:noFill/>
                  </a:tcPr>
                </a:tc>
                <a:tc>
                  <a:txBody>
                    <a:bodyPr/>
                    <a:lstStyle/>
                    <a:p>
                      <a:pPr>
                        <a:buNone/>
                      </a:pPr>
                      <a:r>
                        <a:rPr lang="en-US"/>
                        <a:t>0.8662</a:t>
                      </a:r>
                    </a:p>
                  </a:txBody>
                  <a:tcPr anchor="ctr">
                    <a:lnL>
                      <a:noFill/>
                    </a:lnL>
                    <a:lnR>
                      <a:noFill/>
                    </a:lnR>
                    <a:lnT>
                      <a:noFill/>
                    </a:lnT>
                    <a:lnB>
                      <a:noFill/>
                    </a:lnB>
                    <a:noFill/>
                  </a:tcPr>
                </a:tc>
                <a:tc>
                  <a:txBody>
                    <a:bodyPr/>
                    <a:lstStyle/>
                    <a:p>
                      <a:pPr>
                        <a:buNone/>
                      </a:pPr>
                      <a:r>
                        <a:rPr lang="en-US"/>
                        <a:t>0.8662</a:t>
                      </a:r>
                    </a:p>
                  </a:txBody>
                  <a:tcPr anchor="ctr">
                    <a:lnL>
                      <a:noFill/>
                    </a:lnL>
                    <a:lnR>
                      <a:noFill/>
                    </a:lnR>
                    <a:lnT>
                      <a:noFill/>
                    </a:lnT>
                    <a:lnB>
                      <a:noFill/>
                    </a:lnB>
                    <a:noFill/>
                  </a:tcPr>
                </a:tc>
                <a:tc>
                  <a:txBody>
                    <a:bodyPr/>
                    <a:lstStyle/>
                    <a:p>
                      <a:pPr>
                        <a:buNone/>
                      </a:pPr>
                      <a:r>
                        <a:rPr lang="en-US" dirty="0"/>
                        <a:t>+0.0000 (no change)</a:t>
                      </a:r>
                    </a:p>
                  </a:txBody>
                  <a:tcPr anchor="ctr">
                    <a:lnL>
                      <a:noFill/>
                    </a:lnL>
                    <a:lnR>
                      <a:noFill/>
                    </a:lnR>
                    <a:lnT>
                      <a:noFill/>
                    </a:lnT>
                    <a:lnB>
                      <a:noFill/>
                    </a:lnB>
                    <a:noFill/>
                  </a:tcPr>
                </a:tc>
                <a:extLst>
                  <a:ext uri="{0D108BD9-81ED-4DB2-BD59-A6C34878D82A}">
                    <a16:rowId xmlns:a16="http://schemas.microsoft.com/office/drawing/2014/main" val="1228037450"/>
                  </a:ext>
                </a:extLst>
              </a:tr>
            </a:tbl>
          </a:graphicData>
        </a:graphic>
      </p:graphicFrame>
    </p:spTree>
    <p:extLst>
      <p:ext uri="{BB962C8B-B14F-4D97-AF65-F5344CB8AC3E}">
        <p14:creationId xmlns:p14="http://schemas.microsoft.com/office/powerpoint/2010/main" val="1444241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893DE-3CD7-9318-C67A-9C7BE4C56C4C}"/>
              </a:ext>
            </a:extLst>
          </p:cNvPr>
          <p:cNvSpPr>
            <a:spLocks noGrp="1"/>
          </p:cNvSpPr>
          <p:nvPr>
            <p:ph type="title"/>
          </p:nvPr>
        </p:nvSpPr>
        <p:spPr/>
        <p:txBody>
          <a:bodyPr>
            <a:normAutofit fontScale="90000"/>
          </a:bodyPr>
          <a:lstStyle/>
          <a:p>
            <a:r>
              <a:rPr lang="en-US" dirty="0"/>
              <a:t>Conclusion: Best model selection</a:t>
            </a:r>
          </a:p>
        </p:txBody>
      </p:sp>
      <p:sp>
        <p:nvSpPr>
          <p:cNvPr id="3" name="Content Placeholder 2">
            <a:extLst>
              <a:ext uri="{FF2B5EF4-FFF2-40B4-BE49-F238E27FC236}">
                <a16:creationId xmlns:a16="http://schemas.microsoft.com/office/drawing/2014/main" id="{0C14F9E4-67DC-2A22-E442-47A53DE2AA82}"/>
              </a:ext>
            </a:extLst>
          </p:cNvPr>
          <p:cNvSpPr>
            <a:spLocks noGrp="1"/>
          </p:cNvSpPr>
          <p:nvPr>
            <p:ph idx="1"/>
          </p:nvPr>
        </p:nvSpPr>
        <p:spPr/>
        <p:txBody>
          <a:bodyPr>
            <a:normAutofit/>
          </a:bodyPr>
          <a:lstStyle/>
          <a:p>
            <a:r>
              <a:rPr lang="en-US" b="1" dirty="0"/>
              <a:t>Final Selected Model: </a:t>
            </a:r>
            <a:r>
              <a:rPr lang="en-US" b="1" dirty="0" err="1"/>
              <a:t>XGBoost</a:t>
            </a:r>
            <a:r>
              <a:rPr lang="en-US" b="1" dirty="0"/>
              <a:t> Regressor (Tuned)</a:t>
            </a:r>
          </a:p>
          <a:p>
            <a:r>
              <a:rPr lang="en-US" b="1" dirty="0"/>
              <a:t>Why </a:t>
            </a:r>
            <a:r>
              <a:rPr lang="en-US" b="1" dirty="0" err="1"/>
              <a:t>XGBoost</a:t>
            </a:r>
            <a:r>
              <a:rPr lang="en-US" b="1" dirty="0"/>
              <a:t> performed best:</a:t>
            </a:r>
          </a:p>
          <a:p>
            <a:pPr marL="285750" indent="-285750">
              <a:buFont typeface="Arial" panose="020B0604020202020204" pitchFamily="34" charset="0"/>
              <a:buChar char="•"/>
            </a:pPr>
            <a:r>
              <a:rPr lang="en-US" b="1" dirty="0"/>
              <a:t>Feature interactions </a:t>
            </a:r>
            <a:r>
              <a:rPr lang="en-US" dirty="0"/>
              <a:t>— price likely depends on combinations of specs (e.g. high RAM only commands a premium when paired with a high-end CPU/GPU too). </a:t>
            </a:r>
            <a:r>
              <a:rPr lang="en-US" dirty="0" err="1"/>
              <a:t>XGBoost</a:t>
            </a:r>
            <a:r>
              <a:rPr lang="en-US" dirty="0"/>
              <a:t> builds trees that can naturally split on one feature conditioned on another</a:t>
            </a:r>
          </a:p>
          <a:p>
            <a:pPr marL="285750" lvl="0" indent="-285750">
              <a:buFont typeface="Arial" panose="020B0604020202020204" pitchFamily="34" charset="0"/>
              <a:buChar char="•"/>
            </a:pPr>
            <a:r>
              <a:rPr lang="en-US" b="1" dirty="0"/>
              <a:t>Boosting corrects errors sequentially</a:t>
            </a:r>
            <a:r>
              <a:rPr lang="en-US" dirty="0"/>
              <a:t> — each new tree specifically targets the residual errors of the ensemble so far, which is why boosting methods (</a:t>
            </a:r>
            <a:r>
              <a:rPr lang="en-US" dirty="0" err="1"/>
              <a:t>XGBoost</a:t>
            </a:r>
            <a:r>
              <a:rPr lang="en-US" dirty="0"/>
              <a:t>, Gradient Boosting) outperformed both a single Decision Tree and Random Forest's simple averaging.</a:t>
            </a:r>
          </a:p>
          <a:p>
            <a:pPr marL="285750" lvl="0" indent="-285750">
              <a:buFont typeface="Arial" panose="020B0604020202020204" pitchFamily="34" charset="0"/>
              <a:buChar char="•"/>
            </a:pPr>
            <a:r>
              <a:rPr lang="en-US" b="1" dirty="0"/>
              <a:t>Hyperparameter tuning added a further, modest improvement</a:t>
            </a:r>
            <a:r>
              <a:rPr lang="en-US" dirty="0"/>
              <a:t> — R² rose from 0.876 (baseline) to 0.882 (tuned), suggesting the default configuration was already fairly close to optimal for this dataset.</a:t>
            </a:r>
          </a:p>
        </p:txBody>
      </p:sp>
    </p:spTree>
    <p:extLst>
      <p:ext uri="{BB962C8B-B14F-4D97-AF65-F5344CB8AC3E}">
        <p14:creationId xmlns:p14="http://schemas.microsoft.com/office/powerpoint/2010/main" val="334195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F0945-B335-FADC-ACC8-11516220DD2B}"/>
              </a:ext>
            </a:extLst>
          </p:cNvPr>
          <p:cNvSpPr>
            <a:spLocks noGrp="1"/>
          </p:cNvSpPr>
          <p:nvPr>
            <p:ph type="title"/>
          </p:nvPr>
        </p:nvSpPr>
        <p:spPr>
          <a:xfrm>
            <a:off x="731520" y="841248"/>
            <a:ext cx="2999232" cy="5184648"/>
          </a:xfrm>
        </p:spPr>
        <p:txBody>
          <a:bodyPr anchor="t">
            <a:normAutofit/>
          </a:bodyPr>
          <a:lstStyle/>
          <a:p>
            <a:r>
              <a:rPr lang="en-US" dirty="0"/>
              <a:t>Final comparison </a:t>
            </a:r>
          </a:p>
        </p:txBody>
      </p:sp>
      <p:graphicFrame>
        <p:nvGraphicFramePr>
          <p:cNvPr id="4" name="Content Placeholder 3">
            <a:extLst>
              <a:ext uri="{FF2B5EF4-FFF2-40B4-BE49-F238E27FC236}">
                <a16:creationId xmlns:a16="http://schemas.microsoft.com/office/drawing/2014/main" id="{5BEAAFCC-E960-FBB2-8C62-9413F387EBEC}"/>
              </a:ext>
            </a:extLst>
          </p:cNvPr>
          <p:cNvGraphicFramePr>
            <a:graphicFrameLocks noGrp="1"/>
          </p:cNvGraphicFramePr>
          <p:nvPr>
            <p:ph sz="quarter" idx="13"/>
            <p:extLst>
              <p:ext uri="{D42A27DB-BD31-4B8C-83A1-F6EECF244321}">
                <p14:modId xmlns:p14="http://schemas.microsoft.com/office/powerpoint/2010/main" val="811657611"/>
              </p:ext>
            </p:extLst>
          </p:nvPr>
        </p:nvGraphicFramePr>
        <p:xfrm>
          <a:off x="4666926" y="1125211"/>
          <a:ext cx="6260155" cy="4616726"/>
        </p:xfrm>
        <a:graphic>
          <a:graphicData uri="http://schemas.openxmlformats.org/drawingml/2006/table">
            <a:tbl>
              <a:tblPr firstRow="1" bandRow="1"/>
              <a:tblGrid>
                <a:gridCol w="777541">
                  <a:extLst>
                    <a:ext uri="{9D8B030D-6E8A-4147-A177-3AD203B41FA5}">
                      <a16:colId xmlns:a16="http://schemas.microsoft.com/office/drawing/2014/main" val="3555442947"/>
                    </a:ext>
                  </a:extLst>
                </a:gridCol>
                <a:gridCol w="954070">
                  <a:extLst>
                    <a:ext uri="{9D8B030D-6E8A-4147-A177-3AD203B41FA5}">
                      <a16:colId xmlns:a16="http://schemas.microsoft.com/office/drawing/2014/main" val="557602712"/>
                    </a:ext>
                  </a:extLst>
                </a:gridCol>
                <a:gridCol w="867770">
                  <a:extLst>
                    <a:ext uri="{9D8B030D-6E8A-4147-A177-3AD203B41FA5}">
                      <a16:colId xmlns:a16="http://schemas.microsoft.com/office/drawing/2014/main" val="656964689"/>
                    </a:ext>
                  </a:extLst>
                </a:gridCol>
                <a:gridCol w="867770">
                  <a:extLst>
                    <a:ext uri="{9D8B030D-6E8A-4147-A177-3AD203B41FA5}">
                      <a16:colId xmlns:a16="http://schemas.microsoft.com/office/drawing/2014/main" val="1478174688"/>
                    </a:ext>
                  </a:extLst>
                </a:gridCol>
                <a:gridCol w="1057464">
                  <a:extLst>
                    <a:ext uri="{9D8B030D-6E8A-4147-A177-3AD203B41FA5}">
                      <a16:colId xmlns:a16="http://schemas.microsoft.com/office/drawing/2014/main" val="2458043292"/>
                    </a:ext>
                  </a:extLst>
                </a:gridCol>
                <a:gridCol w="867770">
                  <a:extLst>
                    <a:ext uri="{9D8B030D-6E8A-4147-A177-3AD203B41FA5}">
                      <a16:colId xmlns:a16="http://schemas.microsoft.com/office/drawing/2014/main" val="1439288402"/>
                    </a:ext>
                  </a:extLst>
                </a:gridCol>
                <a:gridCol w="867770">
                  <a:extLst>
                    <a:ext uri="{9D8B030D-6E8A-4147-A177-3AD203B41FA5}">
                      <a16:colId xmlns:a16="http://schemas.microsoft.com/office/drawing/2014/main" val="3064367409"/>
                    </a:ext>
                  </a:extLst>
                </a:gridCol>
              </a:tblGrid>
              <a:tr h="245584">
                <a:tc>
                  <a:txBody>
                    <a:bodyPr/>
                    <a:lstStyle/>
                    <a:p>
                      <a:pPr>
                        <a:buNone/>
                      </a:pPr>
                      <a:r>
                        <a:rPr lang="en-US" sz="1000"/>
                        <a:t>Rank</a:t>
                      </a:r>
                    </a:p>
                  </a:txBody>
                  <a:tcPr marL="52820" marR="52820" marT="26411" marB="26411" anchor="ctr">
                    <a:lnL>
                      <a:noFill/>
                    </a:lnL>
                    <a:lnR>
                      <a:noFill/>
                    </a:lnR>
                    <a:lnT>
                      <a:noFill/>
                    </a:lnT>
                    <a:lnB>
                      <a:noFill/>
                    </a:lnB>
                    <a:noFill/>
                  </a:tcPr>
                </a:tc>
                <a:tc>
                  <a:txBody>
                    <a:bodyPr/>
                    <a:lstStyle/>
                    <a:p>
                      <a:pPr>
                        <a:buNone/>
                      </a:pPr>
                      <a:r>
                        <a:rPr lang="en-US" sz="1000"/>
                        <a:t>Model</a:t>
                      </a:r>
                    </a:p>
                  </a:txBody>
                  <a:tcPr marL="52820" marR="52820" marT="26411" marB="26411" anchor="ctr">
                    <a:lnL>
                      <a:noFill/>
                    </a:lnL>
                    <a:lnR>
                      <a:noFill/>
                    </a:lnR>
                    <a:lnT>
                      <a:noFill/>
                    </a:lnT>
                    <a:lnB>
                      <a:noFill/>
                    </a:lnB>
                    <a:noFill/>
                  </a:tcPr>
                </a:tc>
                <a:tc>
                  <a:txBody>
                    <a:bodyPr/>
                    <a:lstStyle/>
                    <a:p>
                      <a:pPr>
                        <a:buNone/>
                      </a:pPr>
                      <a:r>
                        <a:rPr lang="en-US" sz="1000"/>
                        <a:t>Version</a:t>
                      </a:r>
                    </a:p>
                  </a:txBody>
                  <a:tcPr marL="52820" marR="52820" marT="26411" marB="26411" anchor="ctr">
                    <a:lnL>
                      <a:noFill/>
                    </a:lnL>
                    <a:lnR>
                      <a:noFill/>
                    </a:lnR>
                    <a:lnT>
                      <a:noFill/>
                    </a:lnT>
                    <a:lnB>
                      <a:noFill/>
                    </a:lnB>
                    <a:noFill/>
                  </a:tcPr>
                </a:tc>
                <a:tc>
                  <a:txBody>
                    <a:bodyPr/>
                    <a:lstStyle/>
                    <a:p>
                      <a:pPr algn="r">
                        <a:buNone/>
                      </a:pPr>
                      <a:r>
                        <a:rPr lang="en-US" sz="1000"/>
                        <a:t>MAE</a:t>
                      </a:r>
                    </a:p>
                  </a:txBody>
                  <a:tcPr marL="52820" marR="52820" marT="26411" marB="26411" anchor="ctr">
                    <a:lnL>
                      <a:noFill/>
                    </a:lnL>
                    <a:lnR>
                      <a:noFill/>
                    </a:lnR>
                    <a:lnT>
                      <a:noFill/>
                    </a:lnT>
                    <a:lnB>
                      <a:noFill/>
                    </a:lnB>
                    <a:noFill/>
                  </a:tcPr>
                </a:tc>
                <a:tc>
                  <a:txBody>
                    <a:bodyPr/>
                    <a:lstStyle/>
                    <a:p>
                      <a:pPr algn="r">
                        <a:buNone/>
                      </a:pPr>
                      <a:r>
                        <a:rPr lang="en-US" sz="1000"/>
                        <a:t>MSE</a:t>
                      </a:r>
                    </a:p>
                  </a:txBody>
                  <a:tcPr marL="52820" marR="52820" marT="26411" marB="26411" anchor="ctr">
                    <a:lnL>
                      <a:noFill/>
                    </a:lnL>
                    <a:lnR>
                      <a:noFill/>
                    </a:lnR>
                    <a:lnT>
                      <a:noFill/>
                    </a:lnT>
                    <a:lnB>
                      <a:noFill/>
                    </a:lnB>
                    <a:noFill/>
                  </a:tcPr>
                </a:tc>
                <a:tc>
                  <a:txBody>
                    <a:bodyPr/>
                    <a:lstStyle/>
                    <a:p>
                      <a:pPr algn="r">
                        <a:buNone/>
                      </a:pPr>
                      <a:r>
                        <a:rPr lang="en-US" sz="1000"/>
                        <a:t>RMSE</a:t>
                      </a:r>
                    </a:p>
                  </a:txBody>
                  <a:tcPr marL="52820" marR="52820" marT="26411" marB="26411" anchor="ctr">
                    <a:lnL>
                      <a:noFill/>
                    </a:lnL>
                    <a:lnR>
                      <a:noFill/>
                    </a:lnR>
                    <a:lnT>
                      <a:noFill/>
                    </a:lnT>
                    <a:lnB>
                      <a:noFill/>
                    </a:lnB>
                    <a:noFill/>
                  </a:tcPr>
                </a:tc>
                <a:tc>
                  <a:txBody>
                    <a:bodyPr/>
                    <a:lstStyle/>
                    <a:p>
                      <a:pPr algn="r">
                        <a:buNone/>
                      </a:pPr>
                      <a:r>
                        <a:rPr lang="en-US" sz="1000"/>
                        <a:t>R²</a:t>
                      </a:r>
                    </a:p>
                  </a:txBody>
                  <a:tcPr marL="52820" marR="52820" marT="26411" marB="26411" anchor="ctr">
                    <a:lnL>
                      <a:noFill/>
                    </a:lnL>
                    <a:lnR>
                      <a:noFill/>
                    </a:lnR>
                    <a:lnT>
                      <a:noFill/>
                    </a:lnT>
                    <a:lnB>
                      <a:noFill/>
                    </a:lnB>
                    <a:noFill/>
                  </a:tcPr>
                </a:tc>
                <a:extLst>
                  <a:ext uri="{0D108BD9-81ED-4DB2-BD59-A6C34878D82A}">
                    <a16:rowId xmlns:a16="http://schemas.microsoft.com/office/drawing/2014/main" val="4030589178"/>
                  </a:ext>
                </a:extLst>
              </a:tr>
              <a:tr h="403821">
                <a:tc>
                  <a:txBody>
                    <a:bodyPr/>
                    <a:lstStyle/>
                    <a:p>
                      <a:pPr>
                        <a:buNone/>
                      </a:pPr>
                      <a:r>
                        <a:rPr lang="en-US" sz="1000"/>
                        <a:t>1</a:t>
                      </a:r>
                    </a:p>
                  </a:txBody>
                  <a:tcPr marL="52820" marR="52820" marT="26411" marB="26411" anchor="ctr">
                    <a:lnL>
                      <a:noFill/>
                    </a:lnL>
                    <a:lnR>
                      <a:noFill/>
                    </a:lnR>
                    <a:lnT>
                      <a:noFill/>
                    </a:lnT>
                    <a:lnB>
                      <a:noFill/>
                    </a:lnB>
                    <a:noFill/>
                  </a:tcPr>
                </a:tc>
                <a:tc>
                  <a:txBody>
                    <a:bodyPr/>
                    <a:lstStyle/>
                    <a:p>
                      <a:pPr>
                        <a:buNone/>
                      </a:pPr>
                      <a:r>
                        <a:rPr lang="en-US" sz="1000"/>
                        <a:t>XGBoost (Tuned)</a:t>
                      </a:r>
                    </a:p>
                  </a:txBody>
                  <a:tcPr marL="52820" marR="52820" marT="26411" marB="26411" anchor="ctr">
                    <a:lnL>
                      <a:noFill/>
                    </a:lnL>
                    <a:lnR>
                      <a:noFill/>
                    </a:lnR>
                    <a:lnT>
                      <a:noFill/>
                    </a:lnT>
                    <a:lnB>
                      <a:noFill/>
                    </a:lnB>
                    <a:noFill/>
                  </a:tcPr>
                </a:tc>
                <a:tc>
                  <a:txBody>
                    <a:bodyPr/>
                    <a:lstStyle/>
                    <a:p>
                      <a:pPr>
                        <a:buNone/>
                      </a:pPr>
                      <a:r>
                        <a:rPr lang="en-US" sz="1000"/>
                        <a:t>Tuned</a:t>
                      </a:r>
                    </a:p>
                  </a:txBody>
                  <a:tcPr marL="52820" marR="52820" marT="26411" marB="26411" anchor="ctr">
                    <a:lnL>
                      <a:noFill/>
                    </a:lnL>
                    <a:lnR>
                      <a:noFill/>
                    </a:lnR>
                    <a:lnT>
                      <a:noFill/>
                    </a:lnT>
                    <a:lnB>
                      <a:noFill/>
                    </a:lnB>
                    <a:noFill/>
                  </a:tcPr>
                </a:tc>
                <a:tc>
                  <a:txBody>
                    <a:bodyPr/>
                    <a:lstStyle/>
                    <a:p>
                      <a:pPr algn="r">
                        <a:buNone/>
                      </a:pPr>
                      <a:r>
                        <a:rPr lang="en-US" sz="1000"/>
                        <a:t>137.583199</a:t>
                      </a:r>
                    </a:p>
                  </a:txBody>
                  <a:tcPr marL="52820" marR="52820" marT="26411" marB="26411" anchor="ctr">
                    <a:lnL>
                      <a:noFill/>
                    </a:lnL>
                    <a:lnR>
                      <a:noFill/>
                    </a:lnR>
                    <a:lnT>
                      <a:noFill/>
                    </a:lnT>
                    <a:lnB>
                      <a:noFill/>
                    </a:lnB>
                    <a:noFill/>
                  </a:tcPr>
                </a:tc>
                <a:tc>
                  <a:txBody>
                    <a:bodyPr/>
                    <a:lstStyle/>
                    <a:p>
                      <a:pPr algn="r">
                        <a:buNone/>
                      </a:pPr>
                      <a:r>
                        <a:rPr lang="en-US" sz="1000"/>
                        <a:t>38,867.529025</a:t>
                      </a:r>
                    </a:p>
                  </a:txBody>
                  <a:tcPr marL="52820" marR="52820" marT="26411" marB="26411" anchor="ctr">
                    <a:lnL>
                      <a:noFill/>
                    </a:lnL>
                    <a:lnR>
                      <a:noFill/>
                    </a:lnR>
                    <a:lnT>
                      <a:noFill/>
                    </a:lnT>
                    <a:lnB>
                      <a:noFill/>
                    </a:lnB>
                    <a:noFill/>
                  </a:tcPr>
                </a:tc>
                <a:tc>
                  <a:txBody>
                    <a:bodyPr/>
                    <a:lstStyle/>
                    <a:p>
                      <a:pPr algn="r">
                        <a:buNone/>
                      </a:pPr>
                      <a:r>
                        <a:rPr lang="en-US" sz="1000"/>
                        <a:t>197.148495</a:t>
                      </a:r>
                    </a:p>
                  </a:txBody>
                  <a:tcPr marL="52820" marR="52820" marT="26411" marB="26411" anchor="ctr">
                    <a:lnL>
                      <a:noFill/>
                    </a:lnL>
                    <a:lnR>
                      <a:noFill/>
                    </a:lnR>
                    <a:lnT>
                      <a:noFill/>
                    </a:lnT>
                    <a:lnB>
                      <a:noFill/>
                    </a:lnB>
                    <a:noFill/>
                  </a:tcPr>
                </a:tc>
                <a:tc>
                  <a:txBody>
                    <a:bodyPr/>
                    <a:lstStyle/>
                    <a:p>
                      <a:pPr algn="r">
                        <a:buNone/>
                      </a:pPr>
                      <a:r>
                        <a:rPr lang="en-US" sz="1000"/>
                        <a:t>0.882296</a:t>
                      </a:r>
                    </a:p>
                  </a:txBody>
                  <a:tcPr marL="52820" marR="52820" marT="26411" marB="26411" anchor="ctr">
                    <a:lnL>
                      <a:noFill/>
                    </a:lnL>
                    <a:lnR>
                      <a:noFill/>
                    </a:lnR>
                    <a:lnT>
                      <a:noFill/>
                    </a:lnT>
                    <a:lnB>
                      <a:noFill/>
                    </a:lnB>
                    <a:noFill/>
                  </a:tcPr>
                </a:tc>
                <a:extLst>
                  <a:ext uri="{0D108BD9-81ED-4DB2-BD59-A6C34878D82A}">
                    <a16:rowId xmlns:a16="http://schemas.microsoft.com/office/drawing/2014/main" val="3440209065"/>
                  </a:ext>
                </a:extLst>
              </a:tr>
              <a:tr h="562059">
                <a:tc>
                  <a:txBody>
                    <a:bodyPr/>
                    <a:lstStyle/>
                    <a:p>
                      <a:pPr>
                        <a:buNone/>
                      </a:pPr>
                      <a:r>
                        <a:rPr lang="en-US" sz="1000"/>
                        <a:t>2</a:t>
                      </a:r>
                    </a:p>
                  </a:txBody>
                  <a:tcPr marL="52820" marR="52820" marT="26411" marB="26411" anchor="ctr">
                    <a:lnL>
                      <a:noFill/>
                    </a:lnL>
                    <a:lnR>
                      <a:noFill/>
                    </a:lnR>
                    <a:lnT>
                      <a:noFill/>
                    </a:lnT>
                    <a:lnB>
                      <a:noFill/>
                    </a:lnB>
                    <a:noFill/>
                  </a:tcPr>
                </a:tc>
                <a:tc>
                  <a:txBody>
                    <a:bodyPr/>
                    <a:lstStyle/>
                    <a:p>
                      <a:pPr>
                        <a:buNone/>
                      </a:pPr>
                      <a:r>
                        <a:rPr lang="en-US" sz="1000"/>
                        <a:t>Gradient Boosting (Tuned)</a:t>
                      </a:r>
                    </a:p>
                  </a:txBody>
                  <a:tcPr marL="52820" marR="52820" marT="26411" marB="26411" anchor="ctr">
                    <a:lnL>
                      <a:noFill/>
                    </a:lnL>
                    <a:lnR>
                      <a:noFill/>
                    </a:lnR>
                    <a:lnT>
                      <a:noFill/>
                    </a:lnT>
                    <a:lnB>
                      <a:noFill/>
                    </a:lnB>
                    <a:noFill/>
                  </a:tcPr>
                </a:tc>
                <a:tc>
                  <a:txBody>
                    <a:bodyPr/>
                    <a:lstStyle/>
                    <a:p>
                      <a:pPr>
                        <a:buNone/>
                      </a:pPr>
                      <a:r>
                        <a:rPr lang="en-US" sz="1000"/>
                        <a:t>Tuned</a:t>
                      </a:r>
                    </a:p>
                  </a:txBody>
                  <a:tcPr marL="52820" marR="52820" marT="26411" marB="26411" anchor="ctr">
                    <a:lnL>
                      <a:noFill/>
                    </a:lnL>
                    <a:lnR>
                      <a:noFill/>
                    </a:lnR>
                    <a:lnT>
                      <a:noFill/>
                    </a:lnT>
                    <a:lnB>
                      <a:noFill/>
                    </a:lnB>
                    <a:noFill/>
                  </a:tcPr>
                </a:tc>
                <a:tc>
                  <a:txBody>
                    <a:bodyPr/>
                    <a:lstStyle/>
                    <a:p>
                      <a:pPr algn="r">
                        <a:buNone/>
                      </a:pPr>
                      <a:r>
                        <a:rPr lang="en-US" sz="1000"/>
                        <a:t>137.973205</a:t>
                      </a:r>
                    </a:p>
                  </a:txBody>
                  <a:tcPr marL="52820" marR="52820" marT="26411" marB="26411" anchor="ctr">
                    <a:lnL>
                      <a:noFill/>
                    </a:lnL>
                    <a:lnR>
                      <a:noFill/>
                    </a:lnR>
                    <a:lnT>
                      <a:noFill/>
                    </a:lnT>
                    <a:lnB>
                      <a:noFill/>
                    </a:lnB>
                    <a:noFill/>
                  </a:tcPr>
                </a:tc>
                <a:tc>
                  <a:txBody>
                    <a:bodyPr/>
                    <a:lstStyle/>
                    <a:p>
                      <a:pPr algn="r">
                        <a:buNone/>
                      </a:pPr>
                      <a:r>
                        <a:rPr lang="en-US" sz="1000"/>
                        <a:t>39,208.623430</a:t>
                      </a:r>
                    </a:p>
                  </a:txBody>
                  <a:tcPr marL="52820" marR="52820" marT="26411" marB="26411" anchor="ctr">
                    <a:lnL>
                      <a:noFill/>
                    </a:lnL>
                    <a:lnR>
                      <a:noFill/>
                    </a:lnR>
                    <a:lnT>
                      <a:noFill/>
                    </a:lnT>
                    <a:lnB>
                      <a:noFill/>
                    </a:lnB>
                    <a:noFill/>
                  </a:tcPr>
                </a:tc>
                <a:tc>
                  <a:txBody>
                    <a:bodyPr/>
                    <a:lstStyle/>
                    <a:p>
                      <a:pPr algn="r">
                        <a:buNone/>
                      </a:pPr>
                      <a:r>
                        <a:rPr lang="en-US" sz="1000"/>
                        <a:t>198.011675</a:t>
                      </a:r>
                    </a:p>
                  </a:txBody>
                  <a:tcPr marL="52820" marR="52820" marT="26411" marB="26411" anchor="ctr">
                    <a:lnL>
                      <a:noFill/>
                    </a:lnL>
                    <a:lnR>
                      <a:noFill/>
                    </a:lnR>
                    <a:lnT>
                      <a:noFill/>
                    </a:lnT>
                    <a:lnB>
                      <a:noFill/>
                    </a:lnB>
                    <a:noFill/>
                  </a:tcPr>
                </a:tc>
                <a:tc>
                  <a:txBody>
                    <a:bodyPr/>
                    <a:lstStyle/>
                    <a:p>
                      <a:pPr algn="r">
                        <a:buNone/>
                      </a:pPr>
                      <a:r>
                        <a:rPr lang="en-US" sz="1000"/>
                        <a:t>0.881263</a:t>
                      </a:r>
                    </a:p>
                  </a:txBody>
                  <a:tcPr marL="52820" marR="52820" marT="26411" marB="26411" anchor="ctr">
                    <a:lnL>
                      <a:noFill/>
                    </a:lnL>
                    <a:lnR>
                      <a:noFill/>
                    </a:lnR>
                    <a:lnT>
                      <a:noFill/>
                    </a:lnT>
                    <a:lnB>
                      <a:noFill/>
                    </a:lnB>
                    <a:noFill/>
                  </a:tcPr>
                </a:tc>
                <a:extLst>
                  <a:ext uri="{0D108BD9-81ED-4DB2-BD59-A6C34878D82A}">
                    <a16:rowId xmlns:a16="http://schemas.microsoft.com/office/drawing/2014/main" val="3531969070"/>
                  </a:ext>
                </a:extLst>
              </a:tr>
              <a:tr h="245584">
                <a:tc>
                  <a:txBody>
                    <a:bodyPr/>
                    <a:lstStyle/>
                    <a:p>
                      <a:pPr>
                        <a:buNone/>
                      </a:pPr>
                      <a:r>
                        <a:rPr lang="en-US" sz="1000"/>
                        <a:t>3</a:t>
                      </a:r>
                    </a:p>
                  </a:txBody>
                  <a:tcPr marL="52820" marR="52820" marT="26411" marB="26411" anchor="ctr">
                    <a:lnL>
                      <a:noFill/>
                    </a:lnL>
                    <a:lnR>
                      <a:noFill/>
                    </a:lnR>
                    <a:lnT>
                      <a:noFill/>
                    </a:lnT>
                    <a:lnB>
                      <a:noFill/>
                    </a:lnB>
                    <a:noFill/>
                  </a:tcPr>
                </a:tc>
                <a:tc>
                  <a:txBody>
                    <a:bodyPr/>
                    <a:lstStyle/>
                    <a:p>
                      <a:pPr>
                        <a:buNone/>
                      </a:pPr>
                      <a:r>
                        <a:rPr lang="en-US" sz="1000"/>
                        <a:t>XGBoost</a:t>
                      </a:r>
                    </a:p>
                  </a:txBody>
                  <a:tcPr marL="52820" marR="52820" marT="26411" marB="26411" anchor="ctr">
                    <a:lnL>
                      <a:noFill/>
                    </a:lnL>
                    <a:lnR>
                      <a:noFill/>
                    </a:lnR>
                    <a:lnT>
                      <a:noFill/>
                    </a:lnT>
                    <a:lnB>
                      <a:noFill/>
                    </a:lnB>
                    <a:noFill/>
                  </a:tcPr>
                </a:tc>
                <a:tc>
                  <a:txBody>
                    <a:bodyPr/>
                    <a:lstStyle/>
                    <a:p>
                      <a:pPr>
                        <a:buNone/>
                      </a:pPr>
                      <a:r>
                        <a:rPr lang="en-US" sz="1000"/>
                        <a:t>Baseline</a:t>
                      </a:r>
                    </a:p>
                  </a:txBody>
                  <a:tcPr marL="52820" marR="52820" marT="26411" marB="26411" anchor="ctr">
                    <a:lnL>
                      <a:noFill/>
                    </a:lnL>
                    <a:lnR>
                      <a:noFill/>
                    </a:lnR>
                    <a:lnT>
                      <a:noFill/>
                    </a:lnT>
                    <a:lnB>
                      <a:noFill/>
                    </a:lnB>
                    <a:noFill/>
                  </a:tcPr>
                </a:tc>
                <a:tc>
                  <a:txBody>
                    <a:bodyPr/>
                    <a:lstStyle/>
                    <a:p>
                      <a:pPr algn="r">
                        <a:buNone/>
                      </a:pPr>
                      <a:r>
                        <a:rPr lang="en-US" sz="1000"/>
                        <a:t>141.131038</a:t>
                      </a:r>
                    </a:p>
                  </a:txBody>
                  <a:tcPr marL="52820" marR="52820" marT="26411" marB="26411" anchor="ctr">
                    <a:lnL>
                      <a:noFill/>
                    </a:lnL>
                    <a:lnR>
                      <a:noFill/>
                    </a:lnR>
                    <a:lnT>
                      <a:noFill/>
                    </a:lnT>
                    <a:lnB>
                      <a:noFill/>
                    </a:lnB>
                    <a:noFill/>
                  </a:tcPr>
                </a:tc>
                <a:tc>
                  <a:txBody>
                    <a:bodyPr/>
                    <a:lstStyle/>
                    <a:p>
                      <a:pPr algn="r">
                        <a:buNone/>
                      </a:pPr>
                      <a:r>
                        <a:rPr lang="en-US" sz="1000"/>
                        <a:t>40,980.482014</a:t>
                      </a:r>
                    </a:p>
                  </a:txBody>
                  <a:tcPr marL="52820" marR="52820" marT="26411" marB="26411" anchor="ctr">
                    <a:lnL>
                      <a:noFill/>
                    </a:lnL>
                    <a:lnR>
                      <a:noFill/>
                    </a:lnR>
                    <a:lnT>
                      <a:noFill/>
                    </a:lnT>
                    <a:lnB>
                      <a:noFill/>
                    </a:lnB>
                    <a:noFill/>
                  </a:tcPr>
                </a:tc>
                <a:tc>
                  <a:txBody>
                    <a:bodyPr/>
                    <a:lstStyle/>
                    <a:p>
                      <a:pPr algn="r">
                        <a:buNone/>
                      </a:pPr>
                      <a:r>
                        <a:rPr lang="en-US" sz="1000"/>
                        <a:t>202.436365</a:t>
                      </a:r>
                    </a:p>
                  </a:txBody>
                  <a:tcPr marL="52820" marR="52820" marT="26411" marB="26411" anchor="ctr">
                    <a:lnL>
                      <a:noFill/>
                    </a:lnL>
                    <a:lnR>
                      <a:noFill/>
                    </a:lnR>
                    <a:lnT>
                      <a:noFill/>
                    </a:lnT>
                    <a:lnB>
                      <a:noFill/>
                    </a:lnB>
                    <a:noFill/>
                  </a:tcPr>
                </a:tc>
                <a:tc>
                  <a:txBody>
                    <a:bodyPr/>
                    <a:lstStyle/>
                    <a:p>
                      <a:pPr algn="r">
                        <a:buNone/>
                      </a:pPr>
                      <a:r>
                        <a:rPr lang="en-US" sz="1000"/>
                        <a:t>0.875897</a:t>
                      </a:r>
                    </a:p>
                  </a:txBody>
                  <a:tcPr marL="52820" marR="52820" marT="26411" marB="26411" anchor="ctr">
                    <a:lnL>
                      <a:noFill/>
                    </a:lnL>
                    <a:lnR>
                      <a:noFill/>
                    </a:lnR>
                    <a:lnT>
                      <a:noFill/>
                    </a:lnT>
                    <a:lnB>
                      <a:noFill/>
                    </a:lnB>
                    <a:noFill/>
                  </a:tcPr>
                </a:tc>
                <a:extLst>
                  <a:ext uri="{0D108BD9-81ED-4DB2-BD59-A6C34878D82A}">
                    <a16:rowId xmlns:a16="http://schemas.microsoft.com/office/drawing/2014/main" val="626937956"/>
                  </a:ext>
                </a:extLst>
              </a:tr>
              <a:tr h="245584">
                <a:tc>
                  <a:txBody>
                    <a:bodyPr/>
                    <a:lstStyle/>
                    <a:p>
                      <a:pPr>
                        <a:buNone/>
                      </a:pPr>
                      <a:r>
                        <a:rPr lang="en-US" sz="1000"/>
                        <a:t>4</a:t>
                      </a:r>
                    </a:p>
                  </a:txBody>
                  <a:tcPr marL="52820" marR="52820" marT="26411" marB="26411" anchor="ctr">
                    <a:lnL>
                      <a:noFill/>
                    </a:lnL>
                    <a:lnR>
                      <a:noFill/>
                    </a:lnR>
                    <a:lnT>
                      <a:noFill/>
                    </a:lnT>
                    <a:lnB>
                      <a:noFill/>
                    </a:lnB>
                    <a:noFill/>
                  </a:tcPr>
                </a:tc>
                <a:tc>
                  <a:txBody>
                    <a:bodyPr/>
                    <a:lstStyle/>
                    <a:p>
                      <a:pPr>
                        <a:buNone/>
                      </a:pPr>
                      <a:r>
                        <a:rPr lang="en-US" sz="1000"/>
                        <a:t>SVR (Tuned)</a:t>
                      </a:r>
                    </a:p>
                  </a:txBody>
                  <a:tcPr marL="52820" marR="52820" marT="26411" marB="26411" anchor="ctr">
                    <a:lnL>
                      <a:noFill/>
                    </a:lnL>
                    <a:lnR>
                      <a:noFill/>
                    </a:lnR>
                    <a:lnT>
                      <a:noFill/>
                    </a:lnT>
                    <a:lnB>
                      <a:noFill/>
                    </a:lnB>
                    <a:noFill/>
                  </a:tcPr>
                </a:tc>
                <a:tc>
                  <a:txBody>
                    <a:bodyPr/>
                    <a:lstStyle/>
                    <a:p>
                      <a:pPr>
                        <a:buNone/>
                      </a:pPr>
                      <a:r>
                        <a:rPr lang="en-US" sz="1000"/>
                        <a:t>Tuned</a:t>
                      </a:r>
                    </a:p>
                  </a:txBody>
                  <a:tcPr marL="52820" marR="52820" marT="26411" marB="26411" anchor="ctr">
                    <a:lnL>
                      <a:noFill/>
                    </a:lnL>
                    <a:lnR>
                      <a:noFill/>
                    </a:lnR>
                    <a:lnT>
                      <a:noFill/>
                    </a:lnT>
                    <a:lnB>
                      <a:noFill/>
                    </a:lnB>
                    <a:noFill/>
                  </a:tcPr>
                </a:tc>
                <a:tc>
                  <a:txBody>
                    <a:bodyPr/>
                    <a:lstStyle/>
                    <a:p>
                      <a:pPr algn="r">
                        <a:buNone/>
                      </a:pPr>
                      <a:r>
                        <a:rPr lang="en-US" sz="1000"/>
                        <a:t>144.927404</a:t>
                      </a:r>
                    </a:p>
                  </a:txBody>
                  <a:tcPr marL="52820" marR="52820" marT="26411" marB="26411" anchor="ctr">
                    <a:lnL>
                      <a:noFill/>
                    </a:lnL>
                    <a:lnR>
                      <a:noFill/>
                    </a:lnR>
                    <a:lnT>
                      <a:noFill/>
                    </a:lnT>
                    <a:lnB>
                      <a:noFill/>
                    </a:lnB>
                    <a:noFill/>
                  </a:tcPr>
                </a:tc>
                <a:tc>
                  <a:txBody>
                    <a:bodyPr/>
                    <a:lstStyle/>
                    <a:p>
                      <a:pPr algn="r">
                        <a:buNone/>
                      </a:pPr>
                      <a:r>
                        <a:rPr lang="en-US" sz="1000"/>
                        <a:t>42,402.682522</a:t>
                      </a:r>
                    </a:p>
                  </a:txBody>
                  <a:tcPr marL="52820" marR="52820" marT="26411" marB="26411" anchor="ctr">
                    <a:lnL>
                      <a:noFill/>
                    </a:lnL>
                    <a:lnR>
                      <a:noFill/>
                    </a:lnR>
                    <a:lnT>
                      <a:noFill/>
                    </a:lnT>
                    <a:lnB>
                      <a:noFill/>
                    </a:lnB>
                    <a:noFill/>
                  </a:tcPr>
                </a:tc>
                <a:tc>
                  <a:txBody>
                    <a:bodyPr/>
                    <a:lstStyle/>
                    <a:p>
                      <a:pPr algn="r">
                        <a:buNone/>
                      </a:pPr>
                      <a:r>
                        <a:rPr lang="en-US" sz="1000"/>
                        <a:t>205.919116</a:t>
                      </a:r>
                    </a:p>
                  </a:txBody>
                  <a:tcPr marL="52820" marR="52820" marT="26411" marB="26411" anchor="ctr">
                    <a:lnL>
                      <a:noFill/>
                    </a:lnL>
                    <a:lnR>
                      <a:noFill/>
                    </a:lnR>
                    <a:lnT>
                      <a:noFill/>
                    </a:lnT>
                    <a:lnB>
                      <a:noFill/>
                    </a:lnB>
                    <a:noFill/>
                  </a:tcPr>
                </a:tc>
                <a:tc>
                  <a:txBody>
                    <a:bodyPr/>
                    <a:lstStyle/>
                    <a:p>
                      <a:pPr algn="r">
                        <a:buNone/>
                      </a:pPr>
                      <a:r>
                        <a:rPr lang="en-US" sz="1000"/>
                        <a:t>0.871590</a:t>
                      </a:r>
                    </a:p>
                  </a:txBody>
                  <a:tcPr marL="52820" marR="52820" marT="26411" marB="26411" anchor="ctr">
                    <a:lnL>
                      <a:noFill/>
                    </a:lnL>
                    <a:lnR>
                      <a:noFill/>
                    </a:lnR>
                    <a:lnT>
                      <a:noFill/>
                    </a:lnT>
                    <a:lnB>
                      <a:noFill/>
                    </a:lnB>
                    <a:noFill/>
                  </a:tcPr>
                </a:tc>
                <a:extLst>
                  <a:ext uri="{0D108BD9-81ED-4DB2-BD59-A6C34878D82A}">
                    <a16:rowId xmlns:a16="http://schemas.microsoft.com/office/drawing/2014/main" val="1769410610"/>
                  </a:ext>
                </a:extLst>
              </a:tr>
              <a:tr h="403821">
                <a:tc>
                  <a:txBody>
                    <a:bodyPr/>
                    <a:lstStyle/>
                    <a:p>
                      <a:pPr>
                        <a:buNone/>
                      </a:pPr>
                      <a:r>
                        <a:rPr lang="en-US" sz="1000"/>
                        <a:t>5</a:t>
                      </a:r>
                    </a:p>
                  </a:txBody>
                  <a:tcPr marL="52820" marR="52820" marT="26411" marB="26411" anchor="ctr">
                    <a:lnL>
                      <a:noFill/>
                    </a:lnL>
                    <a:lnR>
                      <a:noFill/>
                    </a:lnR>
                    <a:lnT>
                      <a:noFill/>
                    </a:lnT>
                    <a:lnB>
                      <a:noFill/>
                    </a:lnB>
                    <a:noFill/>
                  </a:tcPr>
                </a:tc>
                <a:tc>
                  <a:txBody>
                    <a:bodyPr/>
                    <a:lstStyle/>
                    <a:p>
                      <a:pPr>
                        <a:buNone/>
                      </a:pPr>
                      <a:r>
                        <a:rPr lang="en-US" sz="1000"/>
                        <a:t>Ridge Regression</a:t>
                      </a:r>
                    </a:p>
                  </a:txBody>
                  <a:tcPr marL="52820" marR="52820" marT="26411" marB="26411" anchor="ctr">
                    <a:lnL>
                      <a:noFill/>
                    </a:lnL>
                    <a:lnR>
                      <a:noFill/>
                    </a:lnR>
                    <a:lnT>
                      <a:noFill/>
                    </a:lnT>
                    <a:lnB>
                      <a:noFill/>
                    </a:lnB>
                    <a:noFill/>
                  </a:tcPr>
                </a:tc>
                <a:tc>
                  <a:txBody>
                    <a:bodyPr/>
                    <a:lstStyle/>
                    <a:p>
                      <a:pPr>
                        <a:buNone/>
                      </a:pPr>
                      <a:r>
                        <a:rPr lang="en-US" sz="1000"/>
                        <a:t>Baseline</a:t>
                      </a:r>
                    </a:p>
                  </a:txBody>
                  <a:tcPr marL="52820" marR="52820" marT="26411" marB="26411" anchor="ctr">
                    <a:lnL>
                      <a:noFill/>
                    </a:lnL>
                    <a:lnR>
                      <a:noFill/>
                    </a:lnR>
                    <a:lnT>
                      <a:noFill/>
                    </a:lnT>
                    <a:lnB>
                      <a:noFill/>
                    </a:lnB>
                    <a:noFill/>
                  </a:tcPr>
                </a:tc>
                <a:tc>
                  <a:txBody>
                    <a:bodyPr/>
                    <a:lstStyle/>
                    <a:p>
                      <a:pPr algn="r">
                        <a:buNone/>
                      </a:pPr>
                      <a:r>
                        <a:rPr lang="en-US" sz="1000"/>
                        <a:t>148.060098</a:t>
                      </a:r>
                    </a:p>
                  </a:txBody>
                  <a:tcPr marL="52820" marR="52820" marT="26411" marB="26411" anchor="ctr">
                    <a:lnL>
                      <a:noFill/>
                    </a:lnL>
                    <a:lnR>
                      <a:noFill/>
                    </a:lnR>
                    <a:lnT>
                      <a:noFill/>
                    </a:lnT>
                    <a:lnB>
                      <a:noFill/>
                    </a:lnB>
                    <a:noFill/>
                  </a:tcPr>
                </a:tc>
                <a:tc>
                  <a:txBody>
                    <a:bodyPr/>
                    <a:lstStyle/>
                    <a:p>
                      <a:pPr algn="r">
                        <a:buNone/>
                      </a:pPr>
                      <a:r>
                        <a:rPr lang="en-US" sz="1000"/>
                        <a:t>44,166.478736</a:t>
                      </a:r>
                    </a:p>
                  </a:txBody>
                  <a:tcPr marL="52820" marR="52820" marT="26411" marB="26411" anchor="ctr">
                    <a:lnL>
                      <a:noFill/>
                    </a:lnL>
                    <a:lnR>
                      <a:noFill/>
                    </a:lnR>
                    <a:lnT>
                      <a:noFill/>
                    </a:lnT>
                    <a:lnB>
                      <a:noFill/>
                    </a:lnB>
                    <a:noFill/>
                  </a:tcPr>
                </a:tc>
                <a:tc>
                  <a:txBody>
                    <a:bodyPr/>
                    <a:lstStyle/>
                    <a:p>
                      <a:pPr algn="r">
                        <a:buNone/>
                      </a:pPr>
                      <a:r>
                        <a:rPr lang="en-US" sz="1000"/>
                        <a:t>210.158223</a:t>
                      </a:r>
                    </a:p>
                  </a:txBody>
                  <a:tcPr marL="52820" marR="52820" marT="26411" marB="26411" anchor="ctr">
                    <a:lnL>
                      <a:noFill/>
                    </a:lnL>
                    <a:lnR>
                      <a:noFill/>
                    </a:lnR>
                    <a:lnT>
                      <a:noFill/>
                    </a:lnT>
                    <a:lnB>
                      <a:noFill/>
                    </a:lnB>
                    <a:noFill/>
                  </a:tcPr>
                </a:tc>
                <a:tc>
                  <a:txBody>
                    <a:bodyPr/>
                    <a:lstStyle/>
                    <a:p>
                      <a:pPr algn="r">
                        <a:buNone/>
                      </a:pPr>
                      <a:r>
                        <a:rPr lang="en-US" sz="1000"/>
                        <a:t>0.866249</a:t>
                      </a:r>
                    </a:p>
                  </a:txBody>
                  <a:tcPr marL="52820" marR="52820" marT="26411" marB="26411" anchor="ctr">
                    <a:lnL>
                      <a:noFill/>
                    </a:lnL>
                    <a:lnR>
                      <a:noFill/>
                    </a:lnR>
                    <a:lnT>
                      <a:noFill/>
                    </a:lnT>
                    <a:lnB>
                      <a:noFill/>
                    </a:lnB>
                    <a:noFill/>
                  </a:tcPr>
                </a:tc>
                <a:extLst>
                  <a:ext uri="{0D108BD9-81ED-4DB2-BD59-A6C34878D82A}">
                    <a16:rowId xmlns:a16="http://schemas.microsoft.com/office/drawing/2014/main" val="135832031"/>
                  </a:ext>
                </a:extLst>
              </a:tr>
              <a:tr h="245584">
                <a:tc>
                  <a:txBody>
                    <a:bodyPr/>
                    <a:lstStyle/>
                    <a:p>
                      <a:pPr>
                        <a:buNone/>
                      </a:pPr>
                      <a:r>
                        <a:rPr lang="en-US" sz="1000"/>
                        <a:t>6</a:t>
                      </a:r>
                    </a:p>
                  </a:txBody>
                  <a:tcPr marL="52820" marR="52820" marT="26411" marB="26411" anchor="ctr">
                    <a:lnL>
                      <a:noFill/>
                    </a:lnL>
                    <a:lnR>
                      <a:noFill/>
                    </a:lnR>
                    <a:lnT>
                      <a:noFill/>
                    </a:lnT>
                    <a:lnB>
                      <a:noFill/>
                    </a:lnB>
                    <a:noFill/>
                  </a:tcPr>
                </a:tc>
                <a:tc>
                  <a:txBody>
                    <a:bodyPr/>
                    <a:lstStyle/>
                    <a:p>
                      <a:pPr>
                        <a:buNone/>
                      </a:pPr>
                      <a:r>
                        <a:rPr lang="en-US" sz="1000"/>
                        <a:t>Ridge (Tuned)</a:t>
                      </a:r>
                    </a:p>
                  </a:txBody>
                  <a:tcPr marL="52820" marR="52820" marT="26411" marB="26411" anchor="ctr">
                    <a:lnL>
                      <a:noFill/>
                    </a:lnL>
                    <a:lnR>
                      <a:noFill/>
                    </a:lnR>
                    <a:lnT>
                      <a:noFill/>
                    </a:lnT>
                    <a:lnB>
                      <a:noFill/>
                    </a:lnB>
                    <a:noFill/>
                  </a:tcPr>
                </a:tc>
                <a:tc>
                  <a:txBody>
                    <a:bodyPr/>
                    <a:lstStyle/>
                    <a:p>
                      <a:pPr>
                        <a:buNone/>
                      </a:pPr>
                      <a:r>
                        <a:rPr lang="en-US" sz="1000"/>
                        <a:t>Tuned</a:t>
                      </a:r>
                    </a:p>
                  </a:txBody>
                  <a:tcPr marL="52820" marR="52820" marT="26411" marB="26411" anchor="ctr">
                    <a:lnL>
                      <a:noFill/>
                    </a:lnL>
                    <a:lnR>
                      <a:noFill/>
                    </a:lnR>
                    <a:lnT>
                      <a:noFill/>
                    </a:lnT>
                    <a:lnB>
                      <a:noFill/>
                    </a:lnB>
                    <a:noFill/>
                  </a:tcPr>
                </a:tc>
                <a:tc>
                  <a:txBody>
                    <a:bodyPr/>
                    <a:lstStyle/>
                    <a:p>
                      <a:pPr algn="r">
                        <a:buNone/>
                      </a:pPr>
                      <a:r>
                        <a:rPr lang="en-US" sz="1000"/>
                        <a:t>148.060098</a:t>
                      </a:r>
                    </a:p>
                  </a:txBody>
                  <a:tcPr marL="52820" marR="52820" marT="26411" marB="26411" anchor="ctr">
                    <a:lnL>
                      <a:noFill/>
                    </a:lnL>
                    <a:lnR>
                      <a:noFill/>
                    </a:lnR>
                    <a:lnT>
                      <a:noFill/>
                    </a:lnT>
                    <a:lnB>
                      <a:noFill/>
                    </a:lnB>
                    <a:noFill/>
                  </a:tcPr>
                </a:tc>
                <a:tc>
                  <a:txBody>
                    <a:bodyPr/>
                    <a:lstStyle/>
                    <a:p>
                      <a:pPr algn="r">
                        <a:buNone/>
                      </a:pPr>
                      <a:r>
                        <a:rPr lang="en-US" sz="1000"/>
                        <a:t>44,166.478736</a:t>
                      </a:r>
                    </a:p>
                  </a:txBody>
                  <a:tcPr marL="52820" marR="52820" marT="26411" marB="26411" anchor="ctr">
                    <a:lnL>
                      <a:noFill/>
                    </a:lnL>
                    <a:lnR>
                      <a:noFill/>
                    </a:lnR>
                    <a:lnT>
                      <a:noFill/>
                    </a:lnT>
                    <a:lnB>
                      <a:noFill/>
                    </a:lnB>
                    <a:noFill/>
                  </a:tcPr>
                </a:tc>
                <a:tc>
                  <a:txBody>
                    <a:bodyPr/>
                    <a:lstStyle/>
                    <a:p>
                      <a:pPr algn="r">
                        <a:buNone/>
                      </a:pPr>
                      <a:r>
                        <a:rPr lang="en-US" sz="1000"/>
                        <a:t>210.158223</a:t>
                      </a:r>
                    </a:p>
                  </a:txBody>
                  <a:tcPr marL="52820" marR="52820" marT="26411" marB="26411" anchor="ctr">
                    <a:lnL>
                      <a:noFill/>
                    </a:lnL>
                    <a:lnR>
                      <a:noFill/>
                    </a:lnR>
                    <a:lnT>
                      <a:noFill/>
                    </a:lnT>
                    <a:lnB>
                      <a:noFill/>
                    </a:lnB>
                    <a:noFill/>
                  </a:tcPr>
                </a:tc>
                <a:tc>
                  <a:txBody>
                    <a:bodyPr/>
                    <a:lstStyle/>
                    <a:p>
                      <a:pPr algn="r">
                        <a:buNone/>
                      </a:pPr>
                      <a:r>
                        <a:rPr lang="en-US" sz="1000"/>
                        <a:t>0.866249</a:t>
                      </a:r>
                    </a:p>
                  </a:txBody>
                  <a:tcPr marL="52820" marR="52820" marT="26411" marB="26411" anchor="ctr">
                    <a:lnL>
                      <a:noFill/>
                    </a:lnL>
                    <a:lnR>
                      <a:noFill/>
                    </a:lnR>
                    <a:lnT>
                      <a:noFill/>
                    </a:lnT>
                    <a:lnB>
                      <a:noFill/>
                    </a:lnB>
                    <a:noFill/>
                  </a:tcPr>
                </a:tc>
                <a:extLst>
                  <a:ext uri="{0D108BD9-81ED-4DB2-BD59-A6C34878D82A}">
                    <a16:rowId xmlns:a16="http://schemas.microsoft.com/office/drawing/2014/main" val="2253378224"/>
                  </a:ext>
                </a:extLst>
              </a:tr>
              <a:tr h="403821">
                <a:tc>
                  <a:txBody>
                    <a:bodyPr/>
                    <a:lstStyle/>
                    <a:p>
                      <a:pPr>
                        <a:buNone/>
                      </a:pPr>
                      <a:r>
                        <a:rPr lang="en-US" sz="1000"/>
                        <a:t>7</a:t>
                      </a:r>
                    </a:p>
                  </a:txBody>
                  <a:tcPr marL="52820" marR="52820" marT="26411" marB="26411" anchor="ctr">
                    <a:lnL>
                      <a:noFill/>
                    </a:lnL>
                    <a:lnR>
                      <a:noFill/>
                    </a:lnR>
                    <a:lnT>
                      <a:noFill/>
                    </a:lnT>
                    <a:lnB>
                      <a:noFill/>
                    </a:lnB>
                    <a:noFill/>
                  </a:tcPr>
                </a:tc>
                <a:tc>
                  <a:txBody>
                    <a:bodyPr/>
                    <a:lstStyle/>
                    <a:p>
                      <a:pPr>
                        <a:buNone/>
                      </a:pPr>
                      <a:r>
                        <a:rPr lang="en-US" sz="1000"/>
                        <a:t>Linear Regression</a:t>
                      </a:r>
                    </a:p>
                  </a:txBody>
                  <a:tcPr marL="52820" marR="52820" marT="26411" marB="26411" anchor="ctr">
                    <a:lnL>
                      <a:noFill/>
                    </a:lnL>
                    <a:lnR>
                      <a:noFill/>
                    </a:lnR>
                    <a:lnT>
                      <a:noFill/>
                    </a:lnT>
                    <a:lnB>
                      <a:noFill/>
                    </a:lnB>
                    <a:noFill/>
                  </a:tcPr>
                </a:tc>
                <a:tc>
                  <a:txBody>
                    <a:bodyPr/>
                    <a:lstStyle/>
                    <a:p>
                      <a:pPr>
                        <a:buNone/>
                      </a:pPr>
                      <a:r>
                        <a:rPr lang="en-US" sz="1000"/>
                        <a:t>Baseline</a:t>
                      </a:r>
                    </a:p>
                  </a:txBody>
                  <a:tcPr marL="52820" marR="52820" marT="26411" marB="26411" anchor="ctr">
                    <a:lnL>
                      <a:noFill/>
                    </a:lnL>
                    <a:lnR>
                      <a:noFill/>
                    </a:lnR>
                    <a:lnT>
                      <a:noFill/>
                    </a:lnT>
                    <a:lnB>
                      <a:noFill/>
                    </a:lnB>
                    <a:noFill/>
                  </a:tcPr>
                </a:tc>
                <a:tc>
                  <a:txBody>
                    <a:bodyPr/>
                    <a:lstStyle/>
                    <a:p>
                      <a:pPr algn="r">
                        <a:buNone/>
                      </a:pPr>
                      <a:r>
                        <a:rPr lang="en-US" sz="1000"/>
                        <a:t>148.059822</a:t>
                      </a:r>
                    </a:p>
                  </a:txBody>
                  <a:tcPr marL="52820" marR="52820" marT="26411" marB="26411" anchor="ctr">
                    <a:lnL>
                      <a:noFill/>
                    </a:lnL>
                    <a:lnR>
                      <a:noFill/>
                    </a:lnR>
                    <a:lnT>
                      <a:noFill/>
                    </a:lnT>
                    <a:lnB>
                      <a:noFill/>
                    </a:lnB>
                    <a:noFill/>
                  </a:tcPr>
                </a:tc>
                <a:tc>
                  <a:txBody>
                    <a:bodyPr/>
                    <a:lstStyle/>
                    <a:p>
                      <a:pPr algn="r">
                        <a:buNone/>
                      </a:pPr>
                      <a:r>
                        <a:rPr lang="en-US" sz="1000"/>
                        <a:t>44,166.541289</a:t>
                      </a:r>
                    </a:p>
                  </a:txBody>
                  <a:tcPr marL="52820" marR="52820" marT="26411" marB="26411" anchor="ctr">
                    <a:lnL>
                      <a:noFill/>
                    </a:lnL>
                    <a:lnR>
                      <a:noFill/>
                    </a:lnR>
                    <a:lnT>
                      <a:noFill/>
                    </a:lnT>
                    <a:lnB>
                      <a:noFill/>
                    </a:lnB>
                    <a:noFill/>
                  </a:tcPr>
                </a:tc>
                <a:tc>
                  <a:txBody>
                    <a:bodyPr/>
                    <a:lstStyle/>
                    <a:p>
                      <a:pPr algn="r">
                        <a:buNone/>
                      </a:pPr>
                      <a:r>
                        <a:rPr lang="en-US" sz="1000"/>
                        <a:t>210.158372</a:t>
                      </a:r>
                    </a:p>
                  </a:txBody>
                  <a:tcPr marL="52820" marR="52820" marT="26411" marB="26411" anchor="ctr">
                    <a:lnL>
                      <a:noFill/>
                    </a:lnL>
                    <a:lnR>
                      <a:noFill/>
                    </a:lnR>
                    <a:lnT>
                      <a:noFill/>
                    </a:lnT>
                    <a:lnB>
                      <a:noFill/>
                    </a:lnB>
                    <a:noFill/>
                  </a:tcPr>
                </a:tc>
                <a:tc>
                  <a:txBody>
                    <a:bodyPr/>
                    <a:lstStyle/>
                    <a:p>
                      <a:pPr algn="r">
                        <a:buNone/>
                      </a:pPr>
                      <a:r>
                        <a:rPr lang="en-US" sz="1000"/>
                        <a:t>0.866249</a:t>
                      </a:r>
                    </a:p>
                  </a:txBody>
                  <a:tcPr marL="52820" marR="52820" marT="26411" marB="26411" anchor="ctr">
                    <a:lnL>
                      <a:noFill/>
                    </a:lnL>
                    <a:lnR>
                      <a:noFill/>
                    </a:lnR>
                    <a:lnT>
                      <a:noFill/>
                    </a:lnT>
                    <a:lnB>
                      <a:noFill/>
                    </a:lnB>
                    <a:noFill/>
                  </a:tcPr>
                </a:tc>
                <a:extLst>
                  <a:ext uri="{0D108BD9-81ED-4DB2-BD59-A6C34878D82A}">
                    <a16:rowId xmlns:a16="http://schemas.microsoft.com/office/drawing/2014/main" val="2392771629"/>
                  </a:ext>
                </a:extLst>
              </a:tr>
              <a:tr h="403821">
                <a:tc>
                  <a:txBody>
                    <a:bodyPr/>
                    <a:lstStyle/>
                    <a:p>
                      <a:pPr>
                        <a:buNone/>
                      </a:pPr>
                      <a:r>
                        <a:rPr lang="en-US" sz="1000"/>
                        <a:t>8</a:t>
                      </a:r>
                    </a:p>
                  </a:txBody>
                  <a:tcPr marL="52820" marR="52820" marT="26411" marB="26411" anchor="ctr">
                    <a:lnL>
                      <a:noFill/>
                    </a:lnL>
                    <a:lnR>
                      <a:noFill/>
                    </a:lnR>
                    <a:lnT>
                      <a:noFill/>
                    </a:lnT>
                    <a:lnB>
                      <a:noFill/>
                    </a:lnB>
                    <a:noFill/>
                  </a:tcPr>
                </a:tc>
                <a:tc>
                  <a:txBody>
                    <a:bodyPr/>
                    <a:lstStyle/>
                    <a:p>
                      <a:pPr>
                        <a:buNone/>
                      </a:pPr>
                      <a:r>
                        <a:rPr lang="en-US" sz="1000"/>
                        <a:t>Gradient Boosting</a:t>
                      </a:r>
                    </a:p>
                  </a:txBody>
                  <a:tcPr marL="52820" marR="52820" marT="26411" marB="26411" anchor="ctr">
                    <a:lnL>
                      <a:noFill/>
                    </a:lnL>
                    <a:lnR>
                      <a:noFill/>
                    </a:lnR>
                    <a:lnT>
                      <a:noFill/>
                    </a:lnT>
                    <a:lnB>
                      <a:noFill/>
                    </a:lnB>
                    <a:noFill/>
                  </a:tcPr>
                </a:tc>
                <a:tc>
                  <a:txBody>
                    <a:bodyPr/>
                    <a:lstStyle/>
                    <a:p>
                      <a:pPr>
                        <a:buNone/>
                      </a:pPr>
                      <a:r>
                        <a:rPr lang="en-US" sz="1000"/>
                        <a:t>Baseline</a:t>
                      </a:r>
                    </a:p>
                  </a:txBody>
                  <a:tcPr marL="52820" marR="52820" marT="26411" marB="26411" anchor="ctr">
                    <a:lnL>
                      <a:noFill/>
                    </a:lnL>
                    <a:lnR>
                      <a:noFill/>
                    </a:lnR>
                    <a:lnT>
                      <a:noFill/>
                    </a:lnT>
                    <a:lnB>
                      <a:noFill/>
                    </a:lnB>
                    <a:noFill/>
                  </a:tcPr>
                </a:tc>
                <a:tc>
                  <a:txBody>
                    <a:bodyPr/>
                    <a:lstStyle/>
                    <a:p>
                      <a:pPr algn="r">
                        <a:buNone/>
                      </a:pPr>
                      <a:r>
                        <a:rPr lang="en-US" sz="1000"/>
                        <a:t>152.028924</a:t>
                      </a:r>
                    </a:p>
                  </a:txBody>
                  <a:tcPr marL="52820" marR="52820" marT="26411" marB="26411" anchor="ctr">
                    <a:lnL>
                      <a:noFill/>
                    </a:lnL>
                    <a:lnR>
                      <a:noFill/>
                    </a:lnR>
                    <a:lnT>
                      <a:noFill/>
                    </a:lnT>
                    <a:lnB>
                      <a:noFill/>
                    </a:lnB>
                    <a:noFill/>
                  </a:tcPr>
                </a:tc>
                <a:tc>
                  <a:txBody>
                    <a:bodyPr/>
                    <a:lstStyle/>
                    <a:p>
                      <a:pPr algn="r">
                        <a:buNone/>
                      </a:pPr>
                      <a:r>
                        <a:rPr lang="en-US" sz="1000"/>
                        <a:t>45,438.487508</a:t>
                      </a:r>
                    </a:p>
                  </a:txBody>
                  <a:tcPr marL="52820" marR="52820" marT="26411" marB="26411" anchor="ctr">
                    <a:lnL>
                      <a:noFill/>
                    </a:lnL>
                    <a:lnR>
                      <a:noFill/>
                    </a:lnR>
                    <a:lnT>
                      <a:noFill/>
                    </a:lnT>
                    <a:lnB>
                      <a:noFill/>
                    </a:lnB>
                    <a:noFill/>
                  </a:tcPr>
                </a:tc>
                <a:tc>
                  <a:txBody>
                    <a:bodyPr/>
                    <a:lstStyle/>
                    <a:p>
                      <a:pPr algn="r">
                        <a:buNone/>
                      </a:pPr>
                      <a:r>
                        <a:rPr lang="en-US" sz="1000"/>
                        <a:t>213.163054</a:t>
                      </a:r>
                    </a:p>
                  </a:txBody>
                  <a:tcPr marL="52820" marR="52820" marT="26411" marB="26411" anchor="ctr">
                    <a:lnL>
                      <a:noFill/>
                    </a:lnL>
                    <a:lnR>
                      <a:noFill/>
                    </a:lnR>
                    <a:lnT>
                      <a:noFill/>
                    </a:lnT>
                    <a:lnB>
                      <a:noFill/>
                    </a:lnB>
                    <a:noFill/>
                  </a:tcPr>
                </a:tc>
                <a:tc>
                  <a:txBody>
                    <a:bodyPr/>
                    <a:lstStyle/>
                    <a:p>
                      <a:pPr algn="r">
                        <a:buNone/>
                      </a:pPr>
                      <a:r>
                        <a:rPr lang="en-US" sz="1000"/>
                        <a:t>0.862397</a:t>
                      </a:r>
                    </a:p>
                  </a:txBody>
                  <a:tcPr marL="52820" marR="52820" marT="26411" marB="26411" anchor="ctr">
                    <a:lnL>
                      <a:noFill/>
                    </a:lnL>
                    <a:lnR>
                      <a:noFill/>
                    </a:lnR>
                    <a:lnT>
                      <a:noFill/>
                    </a:lnT>
                    <a:lnB>
                      <a:noFill/>
                    </a:lnB>
                    <a:noFill/>
                  </a:tcPr>
                </a:tc>
                <a:extLst>
                  <a:ext uri="{0D108BD9-81ED-4DB2-BD59-A6C34878D82A}">
                    <a16:rowId xmlns:a16="http://schemas.microsoft.com/office/drawing/2014/main" val="2972222672"/>
                  </a:ext>
                </a:extLst>
              </a:tr>
              <a:tr h="245584">
                <a:tc>
                  <a:txBody>
                    <a:bodyPr/>
                    <a:lstStyle/>
                    <a:p>
                      <a:pPr>
                        <a:buNone/>
                      </a:pPr>
                      <a:r>
                        <a:rPr lang="en-US" sz="1000"/>
                        <a:t>9</a:t>
                      </a:r>
                    </a:p>
                  </a:txBody>
                  <a:tcPr marL="52820" marR="52820" marT="26411" marB="26411" anchor="ctr">
                    <a:lnL>
                      <a:noFill/>
                    </a:lnL>
                    <a:lnR>
                      <a:noFill/>
                    </a:lnR>
                    <a:lnT>
                      <a:noFill/>
                    </a:lnT>
                    <a:lnB>
                      <a:noFill/>
                    </a:lnB>
                    <a:noFill/>
                  </a:tcPr>
                </a:tc>
                <a:tc>
                  <a:txBody>
                    <a:bodyPr/>
                    <a:lstStyle/>
                    <a:p>
                      <a:pPr>
                        <a:buNone/>
                      </a:pPr>
                      <a:r>
                        <a:rPr lang="en-US" sz="1000"/>
                        <a:t>SVR</a:t>
                      </a:r>
                    </a:p>
                  </a:txBody>
                  <a:tcPr marL="52820" marR="52820" marT="26411" marB="26411" anchor="ctr">
                    <a:lnL>
                      <a:noFill/>
                    </a:lnL>
                    <a:lnR>
                      <a:noFill/>
                    </a:lnR>
                    <a:lnT>
                      <a:noFill/>
                    </a:lnT>
                    <a:lnB>
                      <a:noFill/>
                    </a:lnB>
                    <a:noFill/>
                  </a:tcPr>
                </a:tc>
                <a:tc>
                  <a:txBody>
                    <a:bodyPr/>
                    <a:lstStyle/>
                    <a:p>
                      <a:pPr>
                        <a:buNone/>
                      </a:pPr>
                      <a:r>
                        <a:rPr lang="en-US" sz="1000"/>
                        <a:t>Baseline</a:t>
                      </a:r>
                    </a:p>
                  </a:txBody>
                  <a:tcPr marL="52820" marR="52820" marT="26411" marB="26411" anchor="ctr">
                    <a:lnL>
                      <a:noFill/>
                    </a:lnL>
                    <a:lnR>
                      <a:noFill/>
                    </a:lnR>
                    <a:lnT>
                      <a:noFill/>
                    </a:lnT>
                    <a:lnB>
                      <a:noFill/>
                    </a:lnB>
                    <a:noFill/>
                  </a:tcPr>
                </a:tc>
                <a:tc>
                  <a:txBody>
                    <a:bodyPr/>
                    <a:lstStyle/>
                    <a:p>
                      <a:pPr algn="r">
                        <a:buNone/>
                      </a:pPr>
                      <a:r>
                        <a:rPr lang="en-US" sz="1000"/>
                        <a:t>153.272083</a:t>
                      </a:r>
                    </a:p>
                  </a:txBody>
                  <a:tcPr marL="52820" marR="52820" marT="26411" marB="26411" anchor="ctr">
                    <a:lnL>
                      <a:noFill/>
                    </a:lnL>
                    <a:lnR>
                      <a:noFill/>
                    </a:lnR>
                    <a:lnT>
                      <a:noFill/>
                    </a:lnT>
                    <a:lnB>
                      <a:noFill/>
                    </a:lnB>
                    <a:noFill/>
                  </a:tcPr>
                </a:tc>
                <a:tc>
                  <a:txBody>
                    <a:bodyPr/>
                    <a:lstStyle/>
                    <a:p>
                      <a:pPr algn="r">
                        <a:buNone/>
                      </a:pPr>
                      <a:r>
                        <a:rPr lang="en-US" sz="1000"/>
                        <a:t>46,814.061350</a:t>
                      </a:r>
                    </a:p>
                  </a:txBody>
                  <a:tcPr marL="52820" marR="52820" marT="26411" marB="26411" anchor="ctr">
                    <a:lnL>
                      <a:noFill/>
                    </a:lnL>
                    <a:lnR>
                      <a:noFill/>
                    </a:lnR>
                    <a:lnT>
                      <a:noFill/>
                    </a:lnT>
                    <a:lnB>
                      <a:noFill/>
                    </a:lnB>
                    <a:noFill/>
                  </a:tcPr>
                </a:tc>
                <a:tc>
                  <a:txBody>
                    <a:bodyPr/>
                    <a:lstStyle/>
                    <a:p>
                      <a:pPr algn="r">
                        <a:buNone/>
                      </a:pPr>
                      <a:r>
                        <a:rPr lang="en-US" sz="1000"/>
                        <a:t>216.365573</a:t>
                      </a:r>
                    </a:p>
                  </a:txBody>
                  <a:tcPr marL="52820" marR="52820" marT="26411" marB="26411" anchor="ctr">
                    <a:lnL>
                      <a:noFill/>
                    </a:lnL>
                    <a:lnR>
                      <a:noFill/>
                    </a:lnR>
                    <a:lnT>
                      <a:noFill/>
                    </a:lnT>
                    <a:lnB>
                      <a:noFill/>
                    </a:lnB>
                    <a:noFill/>
                  </a:tcPr>
                </a:tc>
                <a:tc>
                  <a:txBody>
                    <a:bodyPr/>
                    <a:lstStyle/>
                    <a:p>
                      <a:pPr algn="r">
                        <a:buNone/>
                      </a:pPr>
                      <a:r>
                        <a:rPr lang="en-US" sz="1000"/>
                        <a:t>0.858231</a:t>
                      </a:r>
                    </a:p>
                  </a:txBody>
                  <a:tcPr marL="52820" marR="52820" marT="26411" marB="26411" anchor="ctr">
                    <a:lnL>
                      <a:noFill/>
                    </a:lnL>
                    <a:lnR>
                      <a:noFill/>
                    </a:lnR>
                    <a:lnT>
                      <a:noFill/>
                    </a:lnT>
                    <a:lnB>
                      <a:noFill/>
                    </a:lnB>
                    <a:noFill/>
                  </a:tcPr>
                </a:tc>
                <a:extLst>
                  <a:ext uri="{0D108BD9-81ED-4DB2-BD59-A6C34878D82A}">
                    <a16:rowId xmlns:a16="http://schemas.microsoft.com/office/drawing/2014/main" val="304714207"/>
                  </a:ext>
                </a:extLst>
              </a:tr>
              <a:tr h="403821">
                <a:tc>
                  <a:txBody>
                    <a:bodyPr/>
                    <a:lstStyle/>
                    <a:p>
                      <a:pPr>
                        <a:buNone/>
                      </a:pPr>
                      <a:r>
                        <a:rPr lang="en-US" sz="1000"/>
                        <a:t>10</a:t>
                      </a:r>
                    </a:p>
                  </a:txBody>
                  <a:tcPr marL="52820" marR="52820" marT="26411" marB="26411" anchor="ctr">
                    <a:lnL>
                      <a:noFill/>
                    </a:lnL>
                    <a:lnR>
                      <a:noFill/>
                    </a:lnR>
                    <a:lnT>
                      <a:noFill/>
                    </a:lnT>
                    <a:lnB>
                      <a:noFill/>
                    </a:lnB>
                    <a:noFill/>
                  </a:tcPr>
                </a:tc>
                <a:tc>
                  <a:txBody>
                    <a:bodyPr/>
                    <a:lstStyle/>
                    <a:p>
                      <a:pPr>
                        <a:buNone/>
                      </a:pPr>
                      <a:r>
                        <a:rPr lang="en-US" sz="1000"/>
                        <a:t>Random Forest</a:t>
                      </a:r>
                    </a:p>
                  </a:txBody>
                  <a:tcPr marL="52820" marR="52820" marT="26411" marB="26411" anchor="ctr">
                    <a:lnL>
                      <a:noFill/>
                    </a:lnL>
                    <a:lnR>
                      <a:noFill/>
                    </a:lnR>
                    <a:lnT>
                      <a:noFill/>
                    </a:lnT>
                    <a:lnB>
                      <a:noFill/>
                    </a:lnB>
                    <a:noFill/>
                  </a:tcPr>
                </a:tc>
                <a:tc>
                  <a:txBody>
                    <a:bodyPr/>
                    <a:lstStyle/>
                    <a:p>
                      <a:pPr>
                        <a:buNone/>
                      </a:pPr>
                      <a:r>
                        <a:rPr lang="en-US" sz="1000"/>
                        <a:t>Baseline</a:t>
                      </a:r>
                    </a:p>
                  </a:txBody>
                  <a:tcPr marL="52820" marR="52820" marT="26411" marB="26411" anchor="ctr">
                    <a:lnL>
                      <a:noFill/>
                    </a:lnL>
                    <a:lnR>
                      <a:noFill/>
                    </a:lnR>
                    <a:lnT>
                      <a:noFill/>
                    </a:lnT>
                    <a:lnB>
                      <a:noFill/>
                    </a:lnB>
                    <a:noFill/>
                  </a:tcPr>
                </a:tc>
                <a:tc>
                  <a:txBody>
                    <a:bodyPr/>
                    <a:lstStyle/>
                    <a:p>
                      <a:pPr algn="r">
                        <a:buNone/>
                      </a:pPr>
                      <a:r>
                        <a:rPr lang="en-US" sz="1000"/>
                        <a:t>157.074687</a:t>
                      </a:r>
                    </a:p>
                  </a:txBody>
                  <a:tcPr marL="52820" marR="52820" marT="26411" marB="26411" anchor="ctr">
                    <a:lnL>
                      <a:noFill/>
                    </a:lnL>
                    <a:lnR>
                      <a:noFill/>
                    </a:lnR>
                    <a:lnT>
                      <a:noFill/>
                    </a:lnT>
                    <a:lnB>
                      <a:noFill/>
                    </a:lnB>
                    <a:noFill/>
                  </a:tcPr>
                </a:tc>
                <a:tc>
                  <a:txBody>
                    <a:bodyPr/>
                    <a:lstStyle/>
                    <a:p>
                      <a:pPr algn="r">
                        <a:buNone/>
                      </a:pPr>
                      <a:r>
                        <a:rPr lang="en-US" sz="1000"/>
                        <a:t>48,768.188587</a:t>
                      </a:r>
                    </a:p>
                  </a:txBody>
                  <a:tcPr marL="52820" marR="52820" marT="26411" marB="26411" anchor="ctr">
                    <a:lnL>
                      <a:noFill/>
                    </a:lnL>
                    <a:lnR>
                      <a:noFill/>
                    </a:lnR>
                    <a:lnT>
                      <a:noFill/>
                    </a:lnT>
                    <a:lnB>
                      <a:noFill/>
                    </a:lnB>
                    <a:noFill/>
                  </a:tcPr>
                </a:tc>
                <a:tc>
                  <a:txBody>
                    <a:bodyPr/>
                    <a:lstStyle/>
                    <a:p>
                      <a:pPr algn="r">
                        <a:buNone/>
                      </a:pPr>
                      <a:r>
                        <a:rPr lang="en-US" sz="1000"/>
                        <a:t>220.835207</a:t>
                      </a:r>
                    </a:p>
                  </a:txBody>
                  <a:tcPr marL="52820" marR="52820" marT="26411" marB="26411" anchor="ctr">
                    <a:lnL>
                      <a:noFill/>
                    </a:lnL>
                    <a:lnR>
                      <a:noFill/>
                    </a:lnR>
                    <a:lnT>
                      <a:noFill/>
                    </a:lnT>
                    <a:lnB>
                      <a:noFill/>
                    </a:lnB>
                    <a:noFill/>
                  </a:tcPr>
                </a:tc>
                <a:tc>
                  <a:txBody>
                    <a:bodyPr/>
                    <a:lstStyle/>
                    <a:p>
                      <a:pPr algn="r">
                        <a:buNone/>
                      </a:pPr>
                      <a:r>
                        <a:rPr lang="en-US" sz="1000"/>
                        <a:t>0.852313</a:t>
                      </a:r>
                    </a:p>
                  </a:txBody>
                  <a:tcPr marL="52820" marR="52820" marT="26411" marB="26411" anchor="ctr">
                    <a:lnL>
                      <a:noFill/>
                    </a:lnL>
                    <a:lnR>
                      <a:noFill/>
                    </a:lnR>
                    <a:lnT>
                      <a:noFill/>
                    </a:lnT>
                    <a:lnB>
                      <a:noFill/>
                    </a:lnB>
                    <a:noFill/>
                  </a:tcPr>
                </a:tc>
                <a:extLst>
                  <a:ext uri="{0D108BD9-81ED-4DB2-BD59-A6C34878D82A}">
                    <a16:rowId xmlns:a16="http://schemas.microsoft.com/office/drawing/2014/main" val="2161934120"/>
                  </a:ext>
                </a:extLst>
              </a:tr>
              <a:tr h="403821">
                <a:tc>
                  <a:txBody>
                    <a:bodyPr/>
                    <a:lstStyle/>
                    <a:p>
                      <a:pPr>
                        <a:buNone/>
                      </a:pPr>
                      <a:r>
                        <a:rPr lang="en-US" sz="1000"/>
                        <a:t>11</a:t>
                      </a:r>
                    </a:p>
                  </a:txBody>
                  <a:tcPr marL="52820" marR="52820" marT="26411" marB="26411" anchor="ctr">
                    <a:lnL>
                      <a:noFill/>
                    </a:lnL>
                    <a:lnR>
                      <a:noFill/>
                    </a:lnR>
                    <a:lnT>
                      <a:noFill/>
                    </a:lnT>
                    <a:lnB>
                      <a:noFill/>
                    </a:lnB>
                    <a:noFill/>
                  </a:tcPr>
                </a:tc>
                <a:tc>
                  <a:txBody>
                    <a:bodyPr/>
                    <a:lstStyle/>
                    <a:p>
                      <a:pPr>
                        <a:buNone/>
                      </a:pPr>
                      <a:r>
                        <a:rPr lang="en-US" sz="1000"/>
                        <a:t>Lasso Regression</a:t>
                      </a:r>
                    </a:p>
                  </a:txBody>
                  <a:tcPr marL="52820" marR="52820" marT="26411" marB="26411" anchor="ctr">
                    <a:lnL>
                      <a:noFill/>
                    </a:lnL>
                    <a:lnR>
                      <a:noFill/>
                    </a:lnR>
                    <a:lnT>
                      <a:noFill/>
                    </a:lnT>
                    <a:lnB>
                      <a:noFill/>
                    </a:lnB>
                    <a:noFill/>
                  </a:tcPr>
                </a:tc>
                <a:tc>
                  <a:txBody>
                    <a:bodyPr/>
                    <a:lstStyle/>
                    <a:p>
                      <a:pPr>
                        <a:buNone/>
                      </a:pPr>
                      <a:r>
                        <a:rPr lang="en-US" sz="1000"/>
                        <a:t>Baseline</a:t>
                      </a:r>
                    </a:p>
                  </a:txBody>
                  <a:tcPr marL="52820" marR="52820" marT="26411" marB="26411" anchor="ctr">
                    <a:lnL>
                      <a:noFill/>
                    </a:lnL>
                    <a:lnR>
                      <a:noFill/>
                    </a:lnR>
                    <a:lnT>
                      <a:noFill/>
                    </a:lnT>
                    <a:lnB>
                      <a:noFill/>
                    </a:lnB>
                    <a:noFill/>
                  </a:tcPr>
                </a:tc>
                <a:tc>
                  <a:txBody>
                    <a:bodyPr/>
                    <a:lstStyle/>
                    <a:p>
                      <a:pPr algn="r">
                        <a:buNone/>
                      </a:pPr>
                      <a:r>
                        <a:rPr lang="en-US" sz="1000"/>
                        <a:t>205.610737</a:t>
                      </a:r>
                    </a:p>
                  </a:txBody>
                  <a:tcPr marL="52820" marR="52820" marT="26411" marB="26411" anchor="ctr">
                    <a:lnL>
                      <a:noFill/>
                    </a:lnL>
                    <a:lnR>
                      <a:noFill/>
                    </a:lnR>
                    <a:lnT>
                      <a:noFill/>
                    </a:lnT>
                    <a:lnB>
                      <a:noFill/>
                    </a:lnB>
                    <a:noFill/>
                  </a:tcPr>
                </a:tc>
                <a:tc>
                  <a:txBody>
                    <a:bodyPr/>
                    <a:lstStyle/>
                    <a:p>
                      <a:pPr algn="r">
                        <a:buNone/>
                      </a:pPr>
                      <a:r>
                        <a:rPr lang="en-US" sz="1000"/>
                        <a:t>76,775.310496</a:t>
                      </a:r>
                    </a:p>
                  </a:txBody>
                  <a:tcPr marL="52820" marR="52820" marT="26411" marB="26411" anchor="ctr">
                    <a:lnL>
                      <a:noFill/>
                    </a:lnL>
                    <a:lnR>
                      <a:noFill/>
                    </a:lnR>
                    <a:lnT>
                      <a:noFill/>
                    </a:lnT>
                    <a:lnB>
                      <a:noFill/>
                    </a:lnB>
                    <a:noFill/>
                  </a:tcPr>
                </a:tc>
                <a:tc>
                  <a:txBody>
                    <a:bodyPr/>
                    <a:lstStyle/>
                    <a:p>
                      <a:pPr algn="r">
                        <a:buNone/>
                      </a:pPr>
                      <a:r>
                        <a:rPr lang="en-US" sz="1000"/>
                        <a:t>277.083580</a:t>
                      </a:r>
                    </a:p>
                  </a:txBody>
                  <a:tcPr marL="52820" marR="52820" marT="26411" marB="26411" anchor="ctr">
                    <a:lnL>
                      <a:noFill/>
                    </a:lnL>
                    <a:lnR>
                      <a:noFill/>
                    </a:lnR>
                    <a:lnT>
                      <a:noFill/>
                    </a:lnT>
                    <a:lnB>
                      <a:noFill/>
                    </a:lnB>
                    <a:noFill/>
                  </a:tcPr>
                </a:tc>
                <a:tc>
                  <a:txBody>
                    <a:bodyPr/>
                    <a:lstStyle/>
                    <a:p>
                      <a:pPr algn="r">
                        <a:buNone/>
                      </a:pPr>
                      <a:r>
                        <a:rPr lang="en-US" sz="1000"/>
                        <a:t>0.767498</a:t>
                      </a:r>
                    </a:p>
                  </a:txBody>
                  <a:tcPr marL="52820" marR="52820" marT="26411" marB="26411" anchor="ctr">
                    <a:lnL>
                      <a:noFill/>
                    </a:lnL>
                    <a:lnR>
                      <a:noFill/>
                    </a:lnR>
                    <a:lnT>
                      <a:noFill/>
                    </a:lnT>
                    <a:lnB>
                      <a:noFill/>
                    </a:lnB>
                    <a:noFill/>
                  </a:tcPr>
                </a:tc>
                <a:extLst>
                  <a:ext uri="{0D108BD9-81ED-4DB2-BD59-A6C34878D82A}">
                    <a16:rowId xmlns:a16="http://schemas.microsoft.com/office/drawing/2014/main" val="320364545"/>
                  </a:ext>
                </a:extLst>
              </a:tr>
              <a:tr h="403821">
                <a:tc>
                  <a:txBody>
                    <a:bodyPr/>
                    <a:lstStyle/>
                    <a:p>
                      <a:pPr>
                        <a:buNone/>
                      </a:pPr>
                      <a:r>
                        <a:rPr lang="en-US" sz="1000"/>
                        <a:t>12</a:t>
                      </a:r>
                    </a:p>
                  </a:txBody>
                  <a:tcPr marL="52820" marR="52820" marT="26411" marB="26411" anchor="ctr">
                    <a:lnL>
                      <a:noFill/>
                    </a:lnL>
                    <a:lnR>
                      <a:noFill/>
                    </a:lnR>
                    <a:lnT>
                      <a:noFill/>
                    </a:lnT>
                    <a:lnB>
                      <a:noFill/>
                    </a:lnB>
                    <a:noFill/>
                  </a:tcPr>
                </a:tc>
                <a:tc>
                  <a:txBody>
                    <a:bodyPr/>
                    <a:lstStyle/>
                    <a:p>
                      <a:pPr>
                        <a:buNone/>
                      </a:pPr>
                      <a:r>
                        <a:rPr lang="en-US" sz="1000"/>
                        <a:t>Decision Tree</a:t>
                      </a:r>
                    </a:p>
                  </a:txBody>
                  <a:tcPr marL="52820" marR="52820" marT="26411" marB="26411" anchor="ctr">
                    <a:lnL>
                      <a:noFill/>
                    </a:lnL>
                    <a:lnR>
                      <a:noFill/>
                    </a:lnR>
                    <a:lnT>
                      <a:noFill/>
                    </a:lnT>
                    <a:lnB>
                      <a:noFill/>
                    </a:lnB>
                    <a:noFill/>
                  </a:tcPr>
                </a:tc>
                <a:tc>
                  <a:txBody>
                    <a:bodyPr/>
                    <a:lstStyle/>
                    <a:p>
                      <a:pPr>
                        <a:buNone/>
                      </a:pPr>
                      <a:r>
                        <a:rPr lang="en-US" sz="1000"/>
                        <a:t>Baseline</a:t>
                      </a:r>
                    </a:p>
                  </a:txBody>
                  <a:tcPr marL="52820" marR="52820" marT="26411" marB="26411" anchor="ctr">
                    <a:lnL>
                      <a:noFill/>
                    </a:lnL>
                    <a:lnR>
                      <a:noFill/>
                    </a:lnR>
                    <a:lnT>
                      <a:noFill/>
                    </a:lnT>
                    <a:lnB>
                      <a:noFill/>
                    </a:lnB>
                    <a:noFill/>
                  </a:tcPr>
                </a:tc>
                <a:tc>
                  <a:txBody>
                    <a:bodyPr/>
                    <a:lstStyle/>
                    <a:p>
                      <a:pPr algn="r">
                        <a:buNone/>
                      </a:pPr>
                      <a:r>
                        <a:rPr lang="en-US" sz="1000"/>
                        <a:t>231.030550</a:t>
                      </a:r>
                    </a:p>
                  </a:txBody>
                  <a:tcPr marL="52820" marR="52820" marT="26411" marB="26411" anchor="ctr">
                    <a:lnL>
                      <a:noFill/>
                    </a:lnL>
                    <a:lnR>
                      <a:noFill/>
                    </a:lnR>
                    <a:lnT>
                      <a:noFill/>
                    </a:lnT>
                    <a:lnB>
                      <a:noFill/>
                    </a:lnB>
                    <a:noFill/>
                  </a:tcPr>
                </a:tc>
                <a:tc>
                  <a:txBody>
                    <a:bodyPr/>
                    <a:lstStyle/>
                    <a:p>
                      <a:pPr algn="r">
                        <a:buNone/>
                      </a:pPr>
                      <a:r>
                        <a:rPr lang="en-US" sz="1000"/>
                        <a:t>113,671.150450</a:t>
                      </a:r>
                    </a:p>
                  </a:txBody>
                  <a:tcPr marL="52820" marR="52820" marT="26411" marB="26411" anchor="ctr">
                    <a:lnL>
                      <a:noFill/>
                    </a:lnL>
                    <a:lnR>
                      <a:noFill/>
                    </a:lnR>
                    <a:lnT>
                      <a:noFill/>
                    </a:lnT>
                    <a:lnB>
                      <a:noFill/>
                    </a:lnB>
                    <a:noFill/>
                  </a:tcPr>
                </a:tc>
                <a:tc>
                  <a:txBody>
                    <a:bodyPr/>
                    <a:lstStyle/>
                    <a:p>
                      <a:pPr algn="r">
                        <a:buNone/>
                      </a:pPr>
                      <a:r>
                        <a:rPr lang="en-US" sz="1000"/>
                        <a:t>337.151524</a:t>
                      </a:r>
                    </a:p>
                  </a:txBody>
                  <a:tcPr marL="52820" marR="52820" marT="26411" marB="26411" anchor="ctr">
                    <a:lnL>
                      <a:noFill/>
                    </a:lnL>
                    <a:lnR>
                      <a:noFill/>
                    </a:lnR>
                    <a:lnT>
                      <a:noFill/>
                    </a:lnT>
                    <a:lnB>
                      <a:noFill/>
                    </a:lnB>
                    <a:noFill/>
                  </a:tcPr>
                </a:tc>
                <a:tc>
                  <a:txBody>
                    <a:bodyPr/>
                    <a:lstStyle/>
                    <a:p>
                      <a:pPr algn="r">
                        <a:buNone/>
                      </a:pPr>
                      <a:r>
                        <a:rPr lang="en-US" sz="1000"/>
                        <a:t>0.655765</a:t>
                      </a:r>
                    </a:p>
                  </a:txBody>
                  <a:tcPr marL="52820" marR="52820" marT="26411" marB="26411" anchor="ctr">
                    <a:lnL>
                      <a:noFill/>
                    </a:lnL>
                    <a:lnR>
                      <a:noFill/>
                    </a:lnR>
                    <a:lnT>
                      <a:noFill/>
                    </a:lnT>
                    <a:lnB>
                      <a:noFill/>
                    </a:lnB>
                    <a:noFill/>
                  </a:tcPr>
                </a:tc>
                <a:extLst>
                  <a:ext uri="{0D108BD9-81ED-4DB2-BD59-A6C34878D82A}">
                    <a16:rowId xmlns:a16="http://schemas.microsoft.com/office/drawing/2014/main" val="3497354992"/>
                  </a:ext>
                </a:extLst>
              </a:tr>
            </a:tbl>
          </a:graphicData>
        </a:graphic>
      </p:graphicFrame>
    </p:spTree>
    <p:extLst>
      <p:ext uri="{BB962C8B-B14F-4D97-AF65-F5344CB8AC3E}">
        <p14:creationId xmlns:p14="http://schemas.microsoft.com/office/powerpoint/2010/main" val="13497975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EFD9E-6D5A-328A-59EC-9BE25554B9C4}"/>
              </a:ext>
            </a:extLst>
          </p:cNvPr>
          <p:cNvSpPr>
            <a:spLocks noGrp="1"/>
          </p:cNvSpPr>
          <p:nvPr>
            <p:ph type="title"/>
          </p:nvPr>
        </p:nvSpPr>
        <p:spPr/>
        <p:txBody>
          <a:bodyPr/>
          <a:lstStyle/>
          <a:p>
            <a:r>
              <a:rPr lang="en-US" dirty="0"/>
              <a:t>Live prediction demo</a:t>
            </a:r>
          </a:p>
        </p:txBody>
      </p:sp>
      <p:sp>
        <p:nvSpPr>
          <p:cNvPr id="3" name="Content Placeholder 2">
            <a:extLst>
              <a:ext uri="{FF2B5EF4-FFF2-40B4-BE49-F238E27FC236}">
                <a16:creationId xmlns:a16="http://schemas.microsoft.com/office/drawing/2014/main" id="{2818336A-A6BF-2998-E253-2498E40BB080}"/>
              </a:ext>
            </a:extLst>
          </p:cNvPr>
          <p:cNvSpPr>
            <a:spLocks noGrp="1"/>
          </p:cNvSpPr>
          <p:nvPr>
            <p:ph idx="1"/>
          </p:nvPr>
        </p:nvSpPr>
        <p:spPr/>
        <p:txBody>
          <a:bodyPr/>
          <a:lstStyle/>
          <a:p>
            <a:r>
              <a:rPr lang="en-US" dirty="0"/>
              <a:t>https://pred-app-deployed-1.streamlit.app/</a:t>
            </a:r>
          </a:p>
        </p:txBody>
      </p:sp>
    </p:spTree>
    <p:extLst>
      <p:ext uri="{BB962C8B-B14F-4D97-AF65-F5344CB8AC3E}">
        <p14:creationId xmlns:p14="http://schemas.microsoft.com/office/powerpoint/2010/main" val="160026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A02EA-1E44-3631-BCD2-3AAFA3A0B2C6}"/>
              </a:ext>
            </a:extLst>
          </p:cNvPr>
          <p:cNvSpPr>
            <a:spLocks noGrp="1"/>
          </p:cNvSpPr>
          <p:nvPr>
            <p:ph type="title"/>
          </p:nvPr>
        </p:nvSpPr>
        <p:spPr/>
        <p:txBody>
          <a:bodyPr/>
          <a:lstStyle/>
          <a:p>
            <a:r>
              <a:rPr lang="en-US" dirty="0"/>
              <a:t>Challenges faced</a:t>
            </a:r>
          </a:p>
        </p:txBody>
      </p:sp>
      <p:sp>
        <p:nvSpPr>
          <p:cNvPr id="3" name="Content Placeholder 2">
            <a:extLst>
              <a:ext uri="{FF2B5EF4-FFF2-40B4-BE49-F238E27FC236}">
                <a16:creationId xmlns:a16="http://schemas.microsoft.com/office/drawing/2014/main" id="{8D71DEB3-88C0-CB9B-B660-905E575F4D79}"/>
              </a:ext>
            </a:extLst>
          </p:cNvPr>
          <p:cNvSpPr>
            <a:spLocks noGrp="1"/>
          </p:cNvSpPr>
          <p:nvPr>
            <p:ph idx="1"/>
          </p:nvPr>
        </p:nvSpPr>
        <p:spPr/>
        <p:txBody>
          <a:bodyPr/>
          <a:lstStyle/>
          <a:p>
            <a:r>
              <a:rPr lang="en-US" dirty="0"/>
              <a:t>A challenge worthy of mentioning was the struggle we had with trying to train some models. The training and tunning time was intense especially for SVR, gradient boosting. </a:t>
            </a:r>
          </a:p>
          <a:p>
            <a:pPr marL="285750" indent="-285750">
              <a:buFont typeface="Arial" panose="020B0604020202020204" pitchFamily="34" charset="0"/>
              <a:buChar char="•"/>
            </a:pPr>
            <a:r>
              <a:rPr lang="en-US" dirty="0"/>
              <a:t>Due to its poor scalability (training time scales roughly O(n²)–O(n³) with dataset size). So, what we did is we trained it on a random subsample of 8,000 rows (rather than the full 99,999).</a:t>
            </a:r>
          </a:p>
          <a:p>
            <a:pPr marL="285750" indent="-285750">
              <a:buFont typeface="Arial" panose="020B0604020202020204" pitchFamily="34" charset="0"/>
              <a:buChar char="•"/>
            </a:pPr>
            <a:r>
              <a:rPr lang="en-US" dirty="0"/>
              <a:t>While tunning hyperparameters we faced the same trouble with time when trying to tune gradient boosting. So we minimized the iteration to 10 and cv to 3. </a:t>
            </a:r>
          </a:p>
        </p:txBody>
      </p:sp>
    </p:spTree>
    <p:extLst>
      <p:ext uri="{BB962C8B-B14F-4D97-AF65-F5344CB8AC3E}">
        <p14:creationId xmlns:p14="http://schemas.microsoft.com/office/powerpoint/2010/main" val="1855997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14545-4ABE-901E-08ED-0008B321E8BC}"/>
              </a:ext>
            </a:extLst>
          </p:cNvPr>
          <p:cNvSpPr>
            <a:spLocks noGrp="1"/>
          </p:cNvSpPr>
          <p:nvPr>
            <p:ph type="title"/>
          </p:nvPr>
        </p:nvSpPr>
        <p:spPr/>
        <p:txBody>
          <a:bodyPr/>
          <a:lstStyle/>
          <a:p>
            <a:r>
              <a:rPr lang="en-US" dirty="0"/>
              <a:t>Future improvements</a:t>
            </a:r>
          </a:p>
        </p:txBody>
      </p:sp>
      <p:sp>
        <p:nvSpPr>
          <p:cNvPr id="3" name="Content Placeholder 2">
            <a:extLst>
              <a:ext uri="{FF2B5EF4-FFF2-40B4-BE49-F238E27FC236}">
                <a16:creationId xmlns:a16="http://schemas.microsoft.com/office/drawing/2014/main" id="{3AC5DD64-A2E8-4907-5CD2-19A71C9D423E}"/>
              </a:ext>
            </a:extLst>
          </p:cNvPr>
          <p:cNvSpPr>
            <a:spLocks noGrp="1"/>
          </p:cNvSpPr>
          <p:nvPr>
            <p:ph idx="1"/>
          </p:nvPr>
        </p:nvSpPr>
        <p:spPr/>
        <p:txBody>
          <a:bodyPr/>
          <a:lstStyle/>
          <a:p>
            <a:pPr marL="342900" indent="-342900">
              <a:buAutoNum type="arabicPeriod"/>
            </a:pPr>
            <a:r>
              <a:rPr lang="en-US" dirty="0"/>
              <a:t>Try out more models especially ensemble boosters like </a:t>
            </a:r>
            <a:r>
              <a:rPr lang="en-US" dirty="0" err="1"/>
              <a:t>catboost</a:t>
            </a:r>
            <a:r>
              <a:rPr lang="en-US" dirty="0"/>
              <a:t>, </a:t>
            </a:r>
            <a:r>
              <a:rPr lang="en-US" dirty="0" err="1"/>
              <a:t>adaboost</a:t>
            </a:r>
            <a:r>
              <a:rPr lang="en-US" dirty="0"/>
              <a:t>, </a:t>
            </a:r>
            <a:r>
              <a:rPr lang="en-US" dirty="0" err="1"/>
              <a:t>lightgbm</a:t>
            </a:r>
            <a:r>
              <a:rPr lang="en-US" dirty="0"/>
              <a:t>.</a:t>
            </a:r>
          </a:p>
          <a:p>
            <a:pPr marL="342900" indent="-342900">
              <a:buAutoNum type="arabicPeriod"/>
            </a:pPr>
            <a:r>
              <a:rPr lang="en-US" dirty="0"/>
              <a:t>Prediction history </a:t>
            </a:r>
          </a:p>
          <a:p>
            <a:pPr marL="342900" indent="-342900">
              <a:buAutoNum type="arabicPeriod"/>
            </a:pPr>
            <a:r>
              <a:rPr lang="en-US" dirty="0"/>
              <a:t>Personal touch(database integration, user authentication )</a:t>
            </a:r>
          </a:p>
        </p:txBody>
      </p:sp>
    </p:spTree>
    <p:extLst>
      <p:ext uri="{BB962C8B-B14F-4D97-AF65-F5344CB8AC3E}">
        <p14:creationId xmlns:p14="http://schemas.microsoft.com/office/powerpoint/2010/main" val="1672115932"/>
      </p:ext>
    </p:extLst>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DA384A2-DC2C-4578-B8CE-512657D68B3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A533346F-C811-4404-B626-0E7631B21215}">
  <ds:schemaRefs>
    <ds:schemaRef ds:uri="http://schemas.microsoft.com/sharepoint/v3/contenttype/forms"/>
  </ds:schemaRefs>
</ds:datastoreItem>
</file>

<file path=customXml/itemProps3.xml><?xml version="1.0" encoding="utf-8"?>
<ds:datastoreItem xmlns:ds="http://schemas.openxmlformats.org/officeDocument/2006/customXml" ds:itemID="{E2E911A2-2017-41E4-8340-9C55208FC2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Archway</Template>
  <TotalTime>140</TotalTime>
  <Words>1106</Words>
  <Application>Microsoft Office PowerPoint</Application>
  <PresentationFormat>Widescreen</PresentationFormat>
  <Paragraphs>256</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Felix Titling</vt:lpstr>
      <vt:lpstr>Goudy Old Style</vt:lpstr>
      <vt:lpstr>Archway</vt:lpstr>
      <vt:lpstr>Computer price prediction app</vt:lpstr>
      <vt:lpstr>Business Problem </vt:lpstr>
      <vt:lpstr>Dataset overview</vt:lpstr>
      <vt:lpstr>Data cleaning </vt:lpstr>
      <vt:lpstr>EDA</vt:lpstr>
      <vt:lpstr>most of these features have a direct relationship with price  weight_kg is heavily concentrated at the low end.</vt:lpstr>
      <vt:lpstr>ram_gb and storage_gb, cpu_core have no smooth curves. they spike at standard size. battery_wh spikes at zero which implies our dataset mixes laptops and desktops.</vt:lpstr>
      <vt:lpstr>Regression models </vt:lpstr>
      <vt:lpstr>model evaluation </vt:lpstr>
      <vt:lpstr>Model comparison </vt:lpstr>
      <vt:lpstr>Hyperparameter tuning </vt:lpstr>
      <vt:lpstr>Con. </vt:lpstr>
      <vt:lpstr>Conclusion: Best model selection</vt:lpstr>
      <vt:lpstr>Final comparison </vt:lpstr>
      <vt:lpstr>Live prediction demo</vt:lpstr>
      <vt:lpstr>Challenges faced</vt:lpstr>
      <vt:lpstr>Future improvements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 .</dc:creator>
  <cp:lastModifiedBy>Samuel .</cp:lastModifiedBy>
  <cp:revision>1</cp:revision>
  <dcterms:created xsi:type="dcterms:W3CDTF">2026-08-02T18:03:41Z</dcterms:created>
  <dcterms:modified xsi:type="dcterms:W3CDTF">2026-08-02T20:23:43Z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